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10e0cc409a24422" /><Relationship Type="http://schemas.openxmlformats.org/officeDocument/2006/relationships/extended-properties" Target="/docProps/app.xml" Id="Ree0026fdfd914ec9" /><Relationship Type="http://schemas.openxmlformats.org/officeDocument/2006/relationships/officeDocument" Target="/ppt/presentation.xml" Id="R7bdfc8d3d368434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2cdb5ac27b42a8"/>
  </p:sldMasterIdLst>
  <p:notesMasterIdLst>
    <p:notesMasterId xmlns:r="http://schemas.openxmlformats.org/officeDocument/2006/relationships" r:id="Rcca7181fa1ca4669"/>
  </p:notesMasterIdLst>
  <p:sldIdLst>
    <p:sldId xmlns:r="http://schemas.openxmlformats.org/officeDocument/2006/relationships" id="256" r:id="Rfedafa324c404f3e"/>
  </p:sldIdLst>
  <p:sldSz cx="43891200" cy="32918400"/>
  <p:notesSz cx="6858000" cy="9144000"/>
  <p:defaultTextStyle>
    <a:def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None/>
    </a:defPPr>
    <a:lvl1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1pPr>
    <a:lvl2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2pPr>
    <a:lvl3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3pPr>
    <a:lvl4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4pPr>
    <a:lvl5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5pPr>
    <a:lvl6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6pPr>
    <a:lvl7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7pPr>
    <a:lvl8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8pPr>
    <a:lvl9pPr xmlns:a="http://schemas.openxmlformats.org/drawingml/2006/main" marR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buNone/>
      <a:defRPr sz="1400" b="0" i="0" u="none" strike="noStrike" cap="none" spc="0">
        <a:solidFill>
          <a:srgbClr val="000000"/>
        </a:solidFill>
        <a:latin typeface="Arial"/>
        <a:ea typeface="Arial"/>
        <a:cs typeface="Arial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0283b0d3a004fe7" /><Relationship Type="http://schemas.openxmlformats.org/officeDocument/2006/relationships/slideMaster" Target="/ppt/slideMasters/slideMaster1.xml" Id="R5f2cdb5ac27b42a8" /><Relationship Type="http://schemas.openxmlformats.org/officeDocument/2006/relationships/notesMaster" Target="/ppt/notesMasters/notesMaster1.xml" Id="Rcca7181fa1ca4669" /><Relationship Type="http://schemas.openxmlformats.org/officeDocument/2006/relationships/presProps" Target="/ppt/presProps.xml" Id="Rec56182fc3a1451c" /><Relationship Type="http://schemas.openxmlformats.org/officeDocument/2006/relationships/viewProps" Target="/ppt/viewProps.xml" Id="R02858203fac34567" /><Relationship Type="http://schemas.openxmlformats.org/officeDocument/2006/relationships/tableStyles" Target="/ppt/tableStyles.xml" Id="R957bce8f86fe4915" /><Relationship Type="http://schemas.openxmlformats.org/officeDocument/2006/relationships/slide" Target="/ppt/slides/slide1.xml" Id="Rfedafa324c404f3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b6eb450e9934c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acaabeea7f470b" /><Relationship Type="http://schemas.openxmlformats.org/officeDocument/2006/relationships/notesMaster" Target="/ppt/notesMasters/notesMaster1.xml" Id="R9f745d5198f04f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 sz="3600">
              <a:solidFill>
                <a:srgbClr val="FF0000"/>
              </a:solidFill>
            </a:endParaRP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888663400c447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7c88e664b43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c3a81bc29f400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0063b617194cf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20af9ceb804e3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07baaf50043c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3141a304904b0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2aa2b98234d60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5a21d28b5f42b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51aaac1b0f492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9cc66cd84d4400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 Shape;16;p3">
            <a:extLst xmlns:a="http://schemas.openxmlformats.org/drawingml/2006/main">
              <a:ext uri="{FF2B5EF4-FFF2-40B4-BE49-F238E27FC236}">
                <a16:creationId xmlns:a16="http://schemas.microsoft.com/office/drawing/2014/main" id="{EB6BCB40-3E86-4470-A648-84A0760B19C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291840" y="5387342"/>
            <a:ext cx="37307519" cy="11460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7" name="Google Shape;17;p3">
            <a:extLst xmlns:a="http://schemas.openxmlformats.org/drawingml/2006/main">
              <a:ext uri="{FF2B5EF4-FFF2-40B4-BE49-F238E27FC236}">
                <a16:creationId xmlns:a16="http://schemas.microsoft.com/office/drawing/2014/main" id="{3C08A9D2-52A0-4EB7-824A-77DD5CD9B6D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5486400" y="17289781"/>
            <a:ext cx="32918401" cy="79476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algn="ctr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/>
            </a:lvl1pPr>
            <a:lvl2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/>
            </a:lvl2pPr>
            <a:lvl3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/>
            </a:lvl3pPr>
            <a:lvl4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4pPr>
            <a:lvl5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5pPr>
            <a:lvl6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6pPr>
            <a:lvl7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7pPr>
            <a:lvl8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8pPr>
            <a:lvl9pPr algn="ctr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9pPr>
          </a:lstStyle>
          <a:p xmlns:a="http://schemas.openxmlformats.org/drawingml/2006/main"/>
        </p:txBody>
      </p:sp>
      <p:sp>
        <p:nvSpPr>
          <p:cNvPr id="18" name="Google Shape;18;p3">
            <a:extLst xmlns:a="http://schemas.openxmlformats.org/drawingml/2006/main">
              <a:ext uri="{FF2B5EF4-FFF2-40B4-BE49-F238E27FC236}">
                <a16:creationId xmlns:a16="http://schemas.microsoft.com/office/drawing/2014/main" id="{9845847D-940B-4C7E-9443-C53AD6F559B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" name="Google Shape;19;p3">
            <a:extLst xmlns:a="http://schemas.openxmlformats.org/drawingml/2006/main">
              <a:ext uri="{FF2B5EF4-FFF2-40B4-BE49-F238E27FC236}">
                <a16:creationId xmlns:a16="http://schemas.microsoft.com/office/drawing/2014/main" id="{B9576B81-0929-4600-8288-434E278C2A2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" name="Google Shape;20;p3">
            <a:extLst xmlns:a="http://schemas.openxmlformats.org/drawingml/2006/main">
              <a:ext uri="{FF2B5EF4-FFF2-40B4-BE49-F238E27FC236}">
                <a16:creationId xmlns:a16="http://schemas.microsoft.com/office/drawing/2014/main" id="{E8156141-B71F-458D-90A4-117C5EF047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Title and Content" type="obj">
  <p:cSld name="OBJEC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Google Shape;22;p4">
            <a:extLst xmlns:a="http://schemas.openxmlformats.org/drawingml/2006/main">
              <a:ext uri="{FF2B5EF4-FFF2-40B4-BE49-F238E27FC236}">
                <a16:creationId xmlns:a16="http://schemas.microsoft.com/office/drawing/2014/main" id="{0CDA17F1-8D2F-44AA-85D1-401368C21AB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17520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3" name="Google Shape;23;p4">
            <a:extLst xmlns:a="http://schemas.openxmlformats.org/drawingml/2006/main">
              <a:ext uri="{FF2B5EF4-FFF2-40B4-BE49-F238E27FC236}">
                <a16:creationId xmlns:a16="http://schemas.microsoft.com/office/drawing/2014/main" id="{0214098D-DD55-45ED-AFC5-CD565CB10F9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017520" y="8763000"/>
            <a:ext cx="37856160" cy="20886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4" name="Google Shape;24;p4">
            <a:extLst xmlns:a="http://schemas.openxmlformats.org/drawingml/2006/main">
              <a:ext uri="{FF2B5EF4-FFF2-40B4-BE49-F238E27FC236}">
                <a16:creationId xmlns:a16="http://schemas.microsoft.com/office/drawing/2014/main" id="{43F081F2-052C-4639-97AA-7D01D97E2F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5" name="Google Shape;25;p4">
            <a:extLst xmlns:a="http://schemas.openxmlformats.org/drawingml/2006/main">
              <a:ext uri="{FF2B5EF4-FFF2-40B4-BE49-F238E27FC236}">
                <a16:creationId xmlns:a16="http://schemas.microsoft.com/office/drawing/2014/main" id="{D06EA6A7-DC84-4F0B-9A08-A23CC99775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6" name="Google Shape;26;p4">
            <a:extLst xmlns:a="http://schemas.openxmlformats.org/drawingml/2006/main">
              <a:ext uri="{FF2B5EF4-FFF2-40B4-BE49-F238E27FC236}">
                <a16:creationId xmlns:a16="http://schemas.microsoft.com/office/drawing/2014/main" id="{378086B8-3600-4528-9349-D9E4E76958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Google Shape;28;p5">
            <a:extLst xmlns:a="http://schemas.openxmlformats.org/drawingml/2006/main">
              <a:ext uri="{FF2B5EF4-FFF2-40B4-BE49-F238E27FC236}">
                <a16:creationId xmlns:a16="http://schemas.microsoft.com/office/drawing/2014/main" id="{C1755AB5-8EA6-4699-944B-98C82892A7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994662" y="8206749"/>
            <a:ext cx="37856160" cy="136931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800"/>
              <a:buFont typeface="Calibri"/>
              <a:buNone/>
              <a:defRPr sz="28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9" name="Google Shape;29;p5">
            <a:extLst xmlns:a="http://schemas.openxmlformats.org/drawingml/2006/main">
              <a:ext uri="{FF2B5EF4-FFF2-40B4-BE49-F238E27FC236}">
                <a16:creationId xmlns:a16="http://schemas.microsoft.com/office/drawing/2014/main" id="{E8CA12C8-94B6-43A6-8CF3-C8419DF817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994662" y="22029430"/>
            <a:ext cx="37856160" cy="72008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>
                <a:solidFill>
                  <a:schemeClr val="dk1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9600"/>
              <a:buNone/>
              <a:defRPr sz="9600">
                <a:solidFill>
                  <a:srgbClr val="888888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8640"/>
              <a:buNone/>
              <a:defRPr sz="8640">
                <a:solidFill>
                  <a:srgbClr val="888888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rgbClr val="888888"/>
              </a:buClr>
              <a:buSzPts val="7680"/>
              <a:buNone/>
              <a:defRPr sz="7680">
                <a:solidFill>
                  <a:srgbClr val="888888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30" name="Google Shape;30;p5">
            <a:extLst xmlns:a="http://schemas.openxmlformats.org/drawingml/2006/main">
              <a:ext uri="{FF2B5EF4-FFF2-40B4-BE49-F238E27FC236}">
                <a16:creationId xmlns:a16="http://schemas.microsoft.com/office/drawing/2014/main" id="{F4BD9A3D-0277-4BDB-82A5-66A8D29655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1" name="Google Shape;31;p5">
            <a:extLst xmlns:a="http://schemas.openxmlformats.org/drawingml/2006/main">
              <a:ext uri="{FF2B5EF4-FFF2-40B4-BE49-F238E27FC236}">
                <a16:creationId xmlns:a16="http://schemas.microsoft.com/office/drawing/2014/main" id="{1B2E09EE-06BD-4A68-8B32-EADDC48C89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2" name="Google Shape;32;p5">
            <a:extLst xmlns:a="http://schemas.openxmlformats.org/drawingml/2006/main">
              <a:ext uri="{FF2B5EF4-FFF2-40B4-BE49-F238E27FC236}">
                <a16:creationId xmlns:a16="http://schemas.microsoft.com/office/drawing/2014/main" id="{12A2EA19-F167-4389-9E70-BA232BD5AC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wo Content" type="twoObj">
  <p:cSld name="TWO_OBJECT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Google Shape;34;p6">
            <a:extLst xmlns:a="http://schemas.openxmlformats.org/drawingml/2006/main">
              <a:ext uri="{FF2B5EF4-FFF2-40B4-BE49-F238E27FC236}">
                <a16:creationId xmlns:a16="http://schemas.microsoft.com/office/drawing/2014/main" id="{9F5A5FF5-0019-4D05-B7D1-39631D4DAB9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17520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5" name="Google Shape;35;p6">
            <a:extLst xmlns:a="http://schemas.openxmlformats.org/drawingml/2006/main">
              <a:ext uri="{FF2B5EF4-FFF2-40B4-BE49-F238E27FC236}">
                <a16:creationId xmlns:a16="http://schemas.microsoft.com/office/drawing/2014/main" id="{F6609B54-4B7B-495D-99CA-2FAD8951A0A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017520" y="8763000"/>
            <a:ext cx="18653759" cy="20886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6" name="Google Shape;36;p6">
            <a:extLst xmlns:a="http://schemas.openxmlformats.org/drawingml/2006/main">
              <a:ext uri="{FF2B5EF4-FFF2-40B4-BE49-F238E27FC236}">
                <a16:creationId xmlns:a16="http://schemas.microsoft.com/office/drawing/2014/main" id="{7038E0A8-DBE7-4BCF-BA4A-608147FA6E4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2219920" y="8763000"/>
            <a:ext cx="18653759" cy="20886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7" name="Google Shape;37;p6">
            <a:extLst xmlns:a="http://schemas.openxmlformats.org/drawingml/2006/main">
              <a:ext uri="{FF2B5EF4-FFF2-40B4-BE49-F238E27FC236}">
                <a16:creationId xmlns:a16="http://schemas.microsoft.com/office/drawing/2014/main" id="{0C056D19-BFA2-4C0E-89F9-FA370C5BE8A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8" name="Google Shape;38;p6">
            <a:extLst xmlns:a="http://schemas.openxmlformats.org/drawingml/2006/main">
              <a:ext uri="{FF2B5EF4-FFF2-40B4-BE49-F238E27FC236}">
                <a16:creationId xmlns:a16="http://schemas.microsoft.com/office/drawing/2014/main" id="{66D3B1C4-ECE1-4B71-90A7-A5C4F02DD7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39" name="Google Shape;39;p6">
            <a:extLst xmlns:a="http://schemas.openxmlformats.org/drawingml/2006/main">
              <a:ext uri="{FF2B5EF4-FFF2-40B4-BE49-F238E27FC236}">
                <a16:creationId xmlns:a16="http://schemas.microsoft.com/office/drawing/2014/main" id="{C6AF4422-6E05-4759-BC43-21FE3ACE931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Comparison" type="twoTxTwoObj">
  <p:cSld name="TWO_OBJECTS_WITH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Google Shape;41;p7">
            <a:extLst xmlns:a="http://schemas.openxmlformats.org/drawingml/2006/main">
              <a:ext uri="{FF2B5EF4-FFF2-40B4-BE49-F238E27FC236}">
                <a16:creationId xmlns:a16="http://schemas.microsoft.com/office/drawing/2014/main" id="{8A866095-EDE0-4C65-93B7-49BC7D1390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23237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2" name="Google Shape;42;p7">
            <a:extLst xmlns:a="http://schemas.openxmlformats.org/drawingml/2006/main">
              <a:ext uri="{FF2B5EF4-FFF2-40B4-BE49-F238E27FC236}">
                <a16:creationId xmlns:a16="http://schemas.microsoft.com/office/drawing/2014/main" id="{CDF6FF9A-36A1-431F-8830-F985337A362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023242" y="8069582"/>
            <a:ext cx="18568032" cy="39547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 b="1"/>
            </a:lvl1pPr>
            <a:lvl2pPr marL="914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 b="1"/>
            </a:lvl3pPr>
            <a:lvl4pPr marL="1828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4pPr>
            <a:lvl5pPr marL="22860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5pPr>
            <a:lvl6pPr marL="27432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6pPr>
            <a:lvl7pPr marL="3200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7pPr>
            <a:lvl8pPr marL="3657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8pPr>
            <a:lvl9pPr marL="4114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9pPr>
          </a:lstStyle>
          <a:p xmlns:a="http://schemas.openxmlformats.org/drawingml/2006/main"/>
        </p:txBody>
      </p:sp>
      <p:sp>
        <p:nvSpPr>
          <p:cNvPr id="43" name="Google Shape;43;p7">
            <a:extLst xmlns:a="http://schemas.openxmlformats.org/drawingml/2006/main">
              <a:ext uri="{FF2B5EF4-FFF2-40B4-BE49-F238E27FC236}">
                <a16:creationId xmlns:a16="http://schemas.microsoft.com/office/drawing/2014/main" id="{48153D72-CDBC-4ACE-A422-886A3A2EC41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023242" y="12024360"/>
            <a:ext cx="18568032" cy="17686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4" name="Google Shape;44;p7">
            <a:extLst xmlns:a="http://schemas.openxmlformats.org/drawingml/2006/main">
              <a:ext uri="{FF2B5EF4-FFF2-40B4-BE49-F238E27FC236}">
                <a16:creationId xmlns:a16="http://schemas.microsoft.com/office/drawing/2014/main" id="{EA3F83A5-A136-4BD0-85CA-24DF29C1FF8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22219922" y="8069582"/>
            <a:ext cx="18659477" cy="39547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1520"/>
              <a:buNone/>
              <a:defRPr sz="11520" b="1"/>
            </a:lvl1pPr>
            <a:lvl2pPr marL="914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None/>
              <a:defRPr sz="9600" b="1"/>
            </a:lvl2pPr>
            <a:lvl3pPr marL="1371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None/>
              <a:defRPr sz="8640" b="1"/>
            </a:lvl3pPr>
            <a:lvl4pPr marL="1828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4pPr>
            <a:lvl5pPr marL="22860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5pPr>
            <a:lvl6pPr marL="27432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6pPr>
            <a:lvl7pPr marL="3200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7pPr>
            <a:lvl8pPr marL="3657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8pPr>
            <a:lvl9pPr marL="4114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 b="1"/>
            </a:lvl9pPr>
          </a:lstStyle>
          <a:p xmlns:a="http://schemas.openxmlformats.org/drawingml/2006/main"/>
        </p:txBody>
      </p:sp>
      <p:sp>
        <p:nvSpPr>
          <p:cNvPr id="45" name="Google Shape;45;p7">
            <a:extLst xmlns:a="http://schemas.openxmlformats.org/drawingml/2006/main">
              <a:ext uri="{FF2B5EF4-FFF2-40B4-BE49-F238E27FC236}">
                <a16:creationId xmlns:a16="http://schemas.microsoft.com/office/drawing/2014/main" id="{A8D5CF1A-750E-4593-9537-37E1694FF89C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22219922" y="12024360"/>
            <a:ext cx="18659477" cy="17686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46" name="Google Shape;46;p7">
            <a:extLst xmlns:a="http://schemas.openxmlformats.org/drawingml/2006/main">
              <a:ext uri="{FF2B5EF4-FFF2-40B4-BE49-F238E27FC236}">
                <a16:creationId xmlns:a16="http://schemas.microsoft.com/office/drawing/2014/main" id="{F50E283B-9BB4-4277-8C6B-9E0A13976E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7" name="Google Shape;47;p7">
            <a:extLst xmlns:a="http://schemas.openxmlformats.org/drawingml/2006/main">
              <a:ext uri="{FF2B5EF4-FFF2-40B4-BE49-F238E27FC236}">
                <a16:creationId xmlns:a16="http://schemas.microsoft.com/office/drawing/2014/main" id="{97976188-6E5A-406F-A350-80628AD9467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48" name="Google Shape;48;p7">
            <a:extLst xmlns:a="http://schemas.openxmlformats.org/drawingml/2006/main">
              <a:ext uri="{FF2B5EF4-FFF2-40B4-BE49-F238E27FC236}">
                <a16:creationId xmlns:a16="http://schemas.microsoft.com/office/drawing/2014/main" id="{0A7DB2DF-0E5B-43F0-AC88-56CCFEB76A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Google Shape;50;p8">
            <a:extLst xmlns:a="http://schemas.openxmlformats.org/drawingml/2006/main">
              <a:ext uri="{FF2B5EF4-FFF2-40B4-BE49-F238E27FC236}">
                <a16:creationId xmlns:a16="http://schemas.microsoft.com/office/drawing/2014/main" id="{C33CCA50-7DE3-49C7-AE8B-02110FF731F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17520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1" name="Google Shape;51;p8">
            <a:extLst xmlns:a="http://schemas.openxmlformats.org/drawingml/2006/main">
              <a:ext uri="{FF2B5EF4-FFF2-40B4-BE49-F238E27FC236}">
                <a16:creationId xmlns:a16="http://schemas.microsoft.com/office/drawing/2014/main" id="{8C34FCE1-1F2E-43E1-B3C1-534805E0C9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2" name="Google Shape;52;p8">
            <a:extLst xmlns:a="http://schemas.openxmlformats.org/drawingml/2006/main">
              <a:ext uri="{FF2B5EF4-FFF2-40B4-BE49-F238E27FC236}">
                <a16:creationId xmlns:a16="http://schemas.microsoft.com/office/drawing/2014/main" id="{459151C6-5691-4C30-8F1B-D1FAC60F9BB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3" name="Google Shape;53;p8">
            <a:extLst xmlns:a="http://schemas.openxmlformats.org/drawingml/2006/main">
              <a:ext uri="{FF2B5EF4-FFF2-40B4-BE49-F238E27FC236}">
                <a16:creationId xmlns:a16="http://schemas.microsoft.com/office/drawing/2014/main" id="{A297DA2F-9A48-41B1-8094-9254A91DC6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Google Shape;55;p9">
            <a:extLst xmlns:a="http://schemas.openxmlformats.org/drawingml/2006/main">
              <a:ext uri="{FF2B5EF4-FFF2-40B4-BE49-F238E27FC236}">
                <a16:creationId xmlns:a16="http://schemas.microsoft.com/office/drawing/2014/main" id="{2D8D8599-9B65-4416-8CE0-7FF702D66EB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9">
            <a:extLst xmlns:a="http://schemas.openxmlformats.org/drawingml/2006/main">
              <a:ext uri="{FF2B5EF4-FFF2-40B4-BE49-F238E27FC236}">
                <a16:creationId xmlns:a16="http://schemas.microsoft.com/office/drawing/2014/main" id="{AFB18633-B176-4AF9-9690-654C3BCF9E7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7" name="Google Shape;57;p9">
            <a:extLst xmlns:a="http://schemas.openxmlformats.org/drawingml/2006/main">
              <a:ext uri="{FF2B5EF4-FFF2-40B4-BE49-F238E27FC236}">
                <a16:creationId xmlns:a16="http://schemas.microsoft.com/office/drawing/2014/main" id="{E6D3AAAE-61D5-4C0D-8012-CE26124D09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Content with Caption" type="objTx">
  <p:cSld name="OBJECT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10">
            <a:extLst xmlns:a="http://schemas.openxmlformats.org/drawingml/2006/main">
              <a:ext uri="{FF2B5EF4-FFF2-40B4-BE49-F238E27FC236}">
                <a16:creationId xmlns:a16="http://schemas.microsoft.com/office/drawing/2014/main" id="{AB05BC56-CD03-4405-86ED-F508FCB464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23237" y="2194560"/>
            <a:ext cx="14156054" cy="768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0" name="Google Shape;60;p10">
            <a:extLst xmlns:a="http://schemas.openxmlformats.org/drawingml/2006/main">
              <a:ext uri="{FF2B5EF4-FFF2-40B4-BE49-F238E27FC236}">
                <a16:creationId xmlns:a16="http://schemas.microsoft.com/office/drawing/2014/main" id="{8D14C0DE-D50C-4C1D-9470-CAFD659B32B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8659477" y="4739647"/>
            <a:ext cx="22219920" cy="2339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120396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5360"/>
              <a:buChar char="•"/>
              <a:defRPr sz="15360"/>
            </a:lvl1pPr>
            <a:lvl2pPr marL="914400" indent="-10820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3440"/>
              <a:buChar char="•"/>
              <a:defRPr sz="13439"/>
            </a:lvl2pPr>
            <a:lvl3pPr marL="1371600" indent="-96012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Char char="•"/>
              <a:defRPr sz="11520"/>
            </a:lvl3pPr>
            <a:lvl4pPr marL="18288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4pPr>
            <a:lvl5pPr marL="22860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5pPr>
            <a:lvl6pPr marL="27432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6pPr>
            <a:lvl7pPr marL="32004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7pPr>
            <a:lvl8pPr marL="36576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8pPr>
            <a:lvl9pPr marL="411480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Char char="•"/>
              <a:defRPr sz="9600"/>
            </a:lvl9pPr>
          </a:lstStyle>
          <a:p xmlns:a="http://schemas.openxmlformats.org/drawingml/2006/main"/>
        </p:txBody>
      </p:sp>
      <p:sp>
        <p:nvSpPr>
          <p:cNvPr id="61" name="Google Shape;61;p10">
            <a:extLst xmlns:a="http://schemas.openxmlformats.org/drawingml/2006/main">
              <a:ext uri="{FF2B5EF4-FFF2-40B4-BE49-F238E27FC236}">
                <a16:creationId xmlns:a16="http://schemas.microsoft.com/office/drawing/2014/main" id="{E536329B-CB5D-4A7C-9BA6-3B1A4401784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023237" y="9875520"/>
            <a:ext cx="14156054" cy="18295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marL="914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19"/>
            </a:lvl2pPr>
            <a:lvl3pPr marL="1371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marL="1828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marL="22860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marL="27432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marL="3200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marL="3657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marL="4114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62" name="Google Shape;62;p10">
            <a:extLst xmlns:a="http://schemas.openxmlformats.org/drawingml/2006/main">
              <a:ext uri="{FF2B5EF4-FFF2-40B4-BE49-F238E27FC236}">
                <a16:creationId xmlns:a16="http://schemas.microsoft.com/office/drawing/2014/main" id="{052364E9-9306-4AE3-AB16-546F3CEB772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3" name="Google Shape;63;p10">
            <a:extLst xmlns:a="http://schemas.openxmlformats.org/drawingml/2006/main">
              <a:ext uri="{FF2B5EF4-FFF2-40B4-BE49-F238E27FC236}">
                <a16:creationId xmlns:a16="http://schemas.microsoft.com/office/drawing/2014/main" id="{5264E942-DDC4-43BA-9B04-1BC50E7476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4" name="Google Shape;64;p10">
            <a:extLst xmlns:a="http://schemas.openxmlformats.org/drawingml/2006/main">
              <a:ext uri="{FF2B5EF4-FFF2-40B4-BE49-F238E27FC236}">
                <a16:creationId xmlns:a16="http://schemas.microsoft.com/office/drawing/2014/main" id="{1AFB8F91-68CD-4BF9-A4D9-FB6B6D211B7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Picture with Caption" type="picTx">
  <p:cSld name="PICTURE_WITH_CAPTIO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6" name="Google Shape;66;p11">
            <a:extLst xmlns:a="http://schemas.openxmlformats.org/drawingml/2006/main">
              <a:ext uri="{FF2B5EF4-FFF2-40B4-BE49-F238E27FC236}">
                <a16:creationId xmlns:a16="http://schemas.microsoft.com/office/drawing/2014/main" id="{5D8BD0BF-44D5-46C6-9266-4241184CF0A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23237" y="2194560"/>
            <a:ext cx="14156054" cy="7680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b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360"/>
              <a:buFont typeface="Calibri"/>
              <a:buNone/>
              <a:defRPr sz="1536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7" name="Google Shape;67;p11">
            <a:extLst xmlns:a="http://schemas.openxmlformats.org/drawingml/2006/main">
              <a:ext uri="{FF2B5EF4-FFF2-40B4-BE49-F238E27FC236}">
                <a16:creationId xmlns:a16="http://schemas.microsoft.com/office/drawing/2014/main" id="{662D5226-DF33-4A98-8697-4BD27C9C295C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18659477" y="4739647"/>
            <a:ext cx="22219920" cy="2339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68" name="Google Shape;68;p11">
            <a:extLst xmlns:a="http://schemas.openxmlformats.org/drawingml/2006/main">
              <a:ext uri="{FF2B5EF4-FFF2-40B4-BE49-F238E27FC236}">
                <a16:creationId xmlns:a16="http://schemas.microsoft.com/office/drawing/2014/main" id="{17DEF5D0-704E-4593-9AC7-5740C819E3F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023237" y="9875520"/>
            <a:ext cx="14156054" cy="182956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2286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7680"/>
              <a:buNone/>
              <a:defRPr sz="7680"/>
            </a:lvl1pPr>
            <a:lvl2pPr marL="914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6720"/>
              <a:buNone/>
              <a:defRPr sz="6719"/>
            </a:lvl2pPr>
            <a:lvl3pPr marL="1371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5760"/>
              <a:buNone/>
              <a:defRPr sz="5760"/>
            </a:lvl3pPr>
            <a:lvl4pPr marL="1828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4pPr>
            <a:lvl5pPr marL="22860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5pPr>
            <a:lvl6pPr marL="27432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6pPr>
            <a:lvl7pPr marL="32004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7pPr>
            <a:lvl8pPr marL="36576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8pPr>
            <a:lvl9pPr marL="4114800" indent="-2286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69" name="Google Shape;69;p11">
            <a:extLst xmlns:a="http://schemas.openxmlformats.org/drawingml/2006/main">
              <a:ext uri="{FF2B5EF4-FFF2-40B4-BE49-F238E27FC236}">
                <a16:creationId xmlns:a16="http://schemas.microsoft.com/office/drawing/2014/main" id="{0E4CC2D4-14CB-4AD4-A640-4768A4768CA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0" name="Google Shape;70;p11">
            <a:extLst xmlns:a="http://schemas.openxmlformats.org/drawingml/2006/main">
              <a:ext uri="{FF2B5EF4-FFF2-40B4-BE49-F238E27FC236}">
                <a16:creationId xmlns:a16="http://schemas.microsoft.com/office/drawing/2014/main" id="{5ED9D5BA-789E-43D1-BAA9-7E3BE05392A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1" name="Google Shape;71;p11">
            <a:extLst xmlns:a="http://schemas.openxmlformats.org/drawingml/2006/main">
              <a:ext uri="{FF2B5EF4-FFF2-40B4-BE49-F238E27FC236}">
                <a16:creationId xmlns:a16="http://schemas.microsoft.com/office/drawing/2014/main" id="{014003B6-A1D2-49BC-AF17-4C879FFCF0C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Title and Vertical Text" type="vertTx">
  <p:cSld name="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3" name="Google Shape;73;p12">
            <a:extLst xmlns:a="http://schemas.openxmlformats.org/drawingml/2006/main">
              <a:ext uri="{FF2B5EF4-FFF2-40B4-BE49-F238E27FC236}">
                <a16:creationId xmlns:a16="http://schemas.microsoft.com/office/drawing/2014/main" id="{6153ACB7-9B9E-46FA-9C8E-8C26E3D29D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17520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4" name="Google Shape;74;p12">
            <a:extLst xmlns:a="http://schemas.openxmlformats.org/drawingml/2006/main">
              <a:ext uri="{FF2B5EF4-FFF2-40B4-BE49-F238E27FC236}">
                <a16:creationId xmlns:a16="http://schemas.microsoft.com/office/drawing/2014/main" id="{96FFB378-9503-4AA2-8790-FCD04C6E01F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11502390" y="278131"/>
            <a:ext cx="20886422" cy="37856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75" name="Google Shape;75;p12">
            <a:extLst xmlns:a="http://schemas.openxmlformats.org/drawingml/2006/main">
              <a:ext uri="{FF2B5EF4-FFF2-40B4-BE49-F238E27FC236}">
                <a16:creationId xmlns:a16="http://schemas.microsoft.com/office/drawing/2014/main" id="{7B1C4F20-71E3-4B4B-9624-1FD2CD8AE9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6" name="Google Shape;76;p12">
            <a:extLst xmlns:a="http://schemas.openxmlformats.org/drawingml/2006/main">
              <a:ext uri="{FF2B5EF4-FFF2-40B4-BE49-F238E27FC236}">
                <a16:creationId xmlns:a16="http://schemas.microsoft.com/office/drawing/2014/main" id="{17DEC0AF-700C-42FD-9568-488966A243D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7" name="Google Shape;77;p12">
            <a:extLst xmlns:a="http://schemas.openxmlformats.org/drawingml/2006/main">
              <a:ext uri="{FF2B5EF4-FFF2-40B4-BE49-F238E27FC236}">
                <a16:creationId xmlns:a16="http://schemas.microsoft.com/office/drawing/2014/main" id="{4B05D6BF-E923-497B-B35E-40192412663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Vertical Title and Text" type="vertTitleAndTx">
  <p:cSld name="VERTICAL_TITLE_AND_VERTICAL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Google Shape;79;p13">
            <a:extLst xmlns:a="http://schemas.openxmlformats.org/drawingml/2006/main">
              <a:ext uri="{FF2B5EF4-FFF2-40B4-BE49-F238E27FC236}">
                <a16:creationId xmlns:a16="http://schemas.microsoft.com/office/drawing/2014/main" id="{1ED13692-2E7B-4E49-86CC-2566C999A0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 rot="5400000">
            <a:off x="22193250" y="10968991"/>
            <a:ext cx="27896822" cy="9464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0" name="Google Shape;80;p13">
            <a:extLst xmlns:a="http://schemas.openxmlformats.org/drawingml/2006/main">
              <a:ext uri="{FF2B5EF4-FFF2-40B4-BE49-F238E27FC236}">
                <a16:creationId xmlns:a16="http://schemas.microsoft.com/office/drawing/2014/main" id="{298136A9-1AAC-4CD8-9218-2D7F0241497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 rot="5400000">
            <a:off x="2990852" y="1779270"/>
            <a:ext cx="27896822" cy="278434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indent="-34290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81" name="Google Shape;81;p13">
            <a:extLst xmlns:a="http://schemas.openxmlformats.org/drawingml/2006/main">
              <a:ext uri="{FF2B5EF4-FFF2-40B4-BE49-F238E27FC236}">
                <a16:creationId xmlns:a16="http://schemas.microsoft.com/office/drawing/2014/main" id="{D344A3F7-4713-416F-9A97-53BF054B7D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2" name="Google Shape;82;p13">
            <a:extLst xmlns:a="http://schemas.openxmlformats.org/drawingml/2006/main">
              <a:ext uri="{FF2B5EF4-FFF2-40B4-BE49-F238E27FC236}">
                <a16:creationId xmlns:a16="http://schemas.microsoft.com/office/drawing/2014/main" id="{3E449154-73DC-4A9B-A6C9-3839D48F10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3" name="Google Shape;83;p13">
            <a:extLst xmlns:a="http://schemas.openxmlformats.org/drawingml/2006/main">
              <a:ext uri="{FF2B5EF4-FFF2-40B4-BE49-F238E27FC236}">
                <a16:creationId xmlns:a16="http://schemas.microsoft.com/office/drawing/2014/main" id="{A4CE58FB-9F09-4586-9C18-6C2130F23D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e62abf9c6c4874" /><Relationship Type="http://schemas.openxmlformats.org/officeDocument/2006/relationships/slideLayout" Target="/ppt/slideLayouts/slideLayout1.xml" Id="Re203a869480d4d90" /><Relationship Type="http://schemas.openxmlformats.org/officeDocument/2006/relationships/slideLayout" Target="/ppt/slideLayouts/slideLayout2.xml" Id="Re77b14203e094e3c" /><Relationship Type="http://schemas.openxmlformats.org/officeDocument/2006/relationships/slideLayout" Target="/ppt/slideLayouts/slideLayout3.xml" Id="Re8729c95f6444344" /><Relationship Type="http://schemas.openxmlformats.org/officeDocument/2006/relationships/slideLayout" Target="/ppt/slideLayouts/slideLayout4.xml" Id="R4c17ef37a73b4a6a" /><Relationship Type="http://schemas.openxmlformats.org/officeDocument/2006/relationships/slideLayout" Target="/ppt/slideLayouts/slideLayout5.xml" Id="Rdf268163758e4018" /><Relationship Type="http://schemas.openxmlformats.org/officeDocument/2006/relationships/slideLayout" Target="/ppt/slideLayouts/slideLayout6.xml" Id="Rc559ff18d9fe4386" /><Relationship Type="http://schemas.openxmlformats.org/officeDocument/2006/relationships/slideLayout" Target="/ppt/slideLayouts/slideLayout7.xml" Id="R34ed0cec180c47bb" /><Relationship Type="http://schemas.openxmlformats.org/officeDocument/2006/relationships/slideLayout" Target="/ppt/slideLayouts/slideLayout8.xml" Id="R51c009ad7b7b40a5" /><Relationship Type="http://schemas.openxmlformats.org/officeDocument/2006/relationships/slideLayout" Target="/ppt/slideLayouts/slideLayout9.xml" Id="R351e918da36f41d7" /><Relationship Type="http://schemas.openxmlformats.org/officeDocument/2006/relationships/slideLayout" Target="/ppt/slideLayouts/slideLayout10.xml" Id="R6e8c9bc4868a4031" /><Relationship Type="http://schemas.openxmlformats.org/officeDocument/2006/relationships/slideLayout" Target="/ppt/slideLayouts/slideLayout11.xml" Id="Rac5241674d584cd1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5FD76DA4-B64F-4A7A-8F0E-0DA769E8F1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017520" y="1752607"/>
            <a:ext cx="37856160" cy="63627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rm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120"/>
              <a:buFont typeface="Calibri"/>
              <a:buNone/>
              <a:defRPr sz="211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0AA78A5A-176C-4CB7-9A73-2EEC2F3FBA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017520" y="8763000"/>
            <a:ext cx="37856160" cy="208864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normAutofit/>
          </a:bodyPr>
          <a:lstStyle xmlns:a="http://schemas.openxmlformats.org/drawingml/2006/main">
            <a:lvl1pPr marL="457200" marR="0" indent="-1082040" algn="l">
              <a:lnSpc>
                <a:spcPct val="90000"/>
              </a:lnSpc>
              <a:spcBef>
                <a:spcPts val="4800"/>
              </a:spcBef>
              <a:spcAft>
                <a:spcPts val="0"/>
              </a:spcAft>
              <a:buClr>
                <a:schemeClr val="dk1"/>
              </a:buClr>
              <a:buSzPts val="13440"/>
              <a:buFont typeface="Arial"/>
              <a:buChar char="•"/>
              <a:defRPr sz="1343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1pPr>
            <a:lvl2pPr marL="914400" marR="0" indent="-96012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11520"/>
              <a:buFont typeface="Arial"/>
              <a:buChar char="•"/>
              <a:defRPr sz="1152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L="1371600" marR="0" indent="-83820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Arial"/>
              <a:buChar char="•"/>
              <a:defRPr sz="9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L="18288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L="22860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L="27432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L="32004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L="36576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L="4114800" marR="0" indent="-777240" algn="l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>
                <a:schemeClr val="dk1"/>
              </a:buClr>
              <a:buSzPts val="8640"/>
              <a:buFont typeface="Arial"/>
              <a:buChar char="•"/>
              <a:defRPr sz="864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A6B327D5-B739-4618-9D0B-0CC2DB2AF1C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17520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3" name="Google Shape;13;p2">
            <a:extLst xmlns:a="http://schemas.openxmlformats.org/drawingml/2006/main">
              <a:ext uri="{FF2B5EF4-FFF2-40B4-BE49-F238E27FC236}">
                <a16:creationId xmlns:a16="http://schemas.microsoft.com/office/drawing/2014/main" id="{48F87908-5EE3-47D1-9AF9-116E21FBEFE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38959" y="30510488"/>
            <a:ext cx="1481328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72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/>
        </p:txBody>
      </p:sp>
      <p:sp>
        <p:nvSpPr>
          <p:cNvPr id="14" name="Google Shape;14;p2">
            <a:extLst xmlns:a="http://schemas.openxmlformats.org/drawingml/2006/main">
              <a:ext uri="{FF2B5EF4-FFF2-40B4-BE49-F238E27FC236}">
                <a16:creationId xmlns:a16="http://schemas.microsoft.com/office/drawing/2014/main" id="{2D761DAC-7C40-4373-A826-4C4B26AF03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30998159" y="30510488"/>
            <a:ext cx="9875520" cy="17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>
            <a:lvl1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1pPr>
            <a:lvl2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2pPr>
            <a:lvl3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3pPr>
            <a:lvl4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4pPr>
            <a:lvl5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5pPr>
            <a:lvl6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6pPr>
            <a:lvl7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7pPr>
            <a:lvl8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8pPr>
            <a:lvl9pPr marL="0" marR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760"/>
              <a:buFont typeface="Arial"/>
              <a:buNone/>
              <a:defRPr sz="576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203a869480d4d90"/>
    <p:sldLayoutId xmlns:r="http://schemas.openxmlformats.org/officeDocument/2006/relationships" id="2147483650" r:id="Re77b14203e094e3c"/>
    <p:sldLayoutId xmlns:r="http://schemas.openxmlformats.org/officeDocument/2006/relationships" id="2147483651" r:id="Re8729c95f6444344"/>
    <p:sldLayoutId xmlns:r="http://schemas.openxmlformats.org/officeDocument/2006/relationships" id="2147483652" r:id="R4c17ef37a73b4a6a"/>
    <p:sldLayoutId xmlns:r="http://schemas.openxmlformats.org/officeDocument/2006/relationships" id="2147483653" r:id="Rdf268163758e4018"/>
    <p:sldLayoutId xmlns:r="http://schemas.openxmlformats.org/officeDocument/2006/relationships" id="2147483654" r:id="Rc559ff18d9fe4386"/>
    <p:sldLayoutId xmlns:r="http://schemas.openxmlformats.org/officeDocument/2006/relationships" id="2147483655" r:id="R34ed0cec180c47bb"/>
    <p:sldLayoutId xmlns:r="http://schemas.openxmlformats.org/officeDocument/2006/relationships" id="2147483656" r:id="R51c009ad7b7b40a5"/>
    <p:sldLayoutId xmlns:r="http://schemas.openxmlformats.org/officeDocument/2006/relationships" id="2147483657" r:id="R351e918da36f41d7"/>
    <p:sldLayoutId xmlns:r="http://schemas.openxmlformats.org/officeDocument/2006/relationships" id="2147483658" r:id="R6e8c9bc4868a4031"/>
    <p:sldLayoutId xmlns:r="http://schemas.openxmlformats.org/officeDocument/2006/relationships" id="2147483659" r:id="Rac5241674d584cd1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9754fe82674fd8" /><Relationship Type="http://schemas.openxmlformats.org/officeDocument/2006/relationships/image" Target="/ppt/media/image.jpeg" Id="Rc9bd6659886a4a82" /><Relationship Type="http://schemas.openxmlformats.org/officeDocument/2006/relationships/image" Target="/ppt/media/image.png" Id="R3172ba2205ee4600" /><Relationship Type="http://schemas.openxmlformats.org/officeDocument/2006/relationships/image" Target="/ppt/media/image2.png" Id="R95a3208f2def4cba" /><Relationship Type="http://schemas.openxmlformats.org/officeDocument/2006/relationships/image" Target="/ppt/media/image2.jpeg" Id="R8ffccf41754044f1" /><Relationship Type="http://schemas.openxmlformats.org/officeDocument/2006/relationships/image" Target="/ppt/media/image3.png" Id="R501811421d9746af" /><Relationship Type="http://schemas.openxmlformats.org/officeDocument/2006/relationships/notesSlide" Target="/ppt/notesSlides/notesSlide1.xml" Id="R1caa4ce9727d458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B7B7B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1">
            <a:extLst xmlns:a="http://schemas.openxmlformats.org/drawingml/2006/main">
              <a:ext uri="{FF2B5EF4-FFF2-40B4-BE49-F238E27FC236}">
                <a16:creationId xmlns:a16="http://schemas.microsoft.com/office/drawing/2014/main" id="{F540D66D-E344-4BF7-8CEC-FDF6E57C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075" y="822175"/>
            <a:ext cx="39416100" cy="69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500"/>
              <a:buFont typeface="Arial"/>
              <a:buNone/>
            </a:pPr>
            <a:r>
              <a:rPr sz="8500" b="1">
                <a:solidFill>
                  <a:schemeClr val="dk1"/>
                </a:solidFill>
              </a:rPr>
              <a:t>Playing Tougher for One’s Size: Positional Physicality in the NHL</a:t>
            </a:r>
            <a:endParaRPr sz="1400" b="1" i="0" u="none" strike="noStrik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6000" b="1" i="1">
                <a:solidFill>
                  <a:schemeClr val="dk1"/>
                </a:solidFill>
              </a:rPr>
              <a:t>Rento Saijo </a:t>
            </a:r>
            <a:r>
              <a:rPr sz="6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‘</a:t>
            </a:r>
            <a:r>
              <a:rPr sz="6000" b="1" i="1">
                <a:solidFill>
                  <a:schemeClr val="dk1"/>
                </a:solidFill>
              </a:rPr>
              <a:t>28</a:t>
            </a:r>
            <a:br>
              <a:rPr sz="60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</a:br>
            <a:r>
              <a:rPr sz="6000" b="1" i="1">
                <a:solidFill>
                  <a:schemeClr val="dk1"/>
                </a:solidFill>
              </a:rPr>
              <a:t>Statistics and Data Science, Computer Science</a:t>
            </a:r>
            <a:endParaRPr sz="6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6000" b="1" i="1">
                <a:solidFill>
                  <a:schemeClr val="dk1"/>
                </a:solidFill>
              </a:rPr>
              <a:t>Data, Information, and Society Pathway</a:t>
            </a:r>
            <a:endParaRPr sz="6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6000" b="1" i="1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</a:rPr>
              <a:t>Funded Sophomore Research Program</a:t>
            </a:r>
            <a:endParaRPr sz="6000" b="1" i="1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sz="6000" b="1" i="1">
                <a:solidFill>
                  <a:schemeClr val="dk1"/>
                </a:solidFill>
              </a:rPr>
              <a:t>Jeff Moher, Connecticut College; Sian Lee, Michigan State University; Yeongjun Seo, U. of Tennessee</a:t>
            </a:r>
            <a:endParaRPr sz="6000" b="1" i="1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t/>
            </a:r>
            <a:endParaRPr sz="60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0" name="Google Shape;90;p1">
            <a:extLst xmlns:a="http://schemas.openxmlformats.org/drawingml/2006/main">
              <a:ext uri="{FF2B5EF4-FFF2-40B4-BE49-F238E27FC236}">
                <a16:creationId xmlns:a16="http://schemas.microsoft.com/office/drawing/2014/main" id="{D2830C6D-08BA-4F36-8252-4914FF50C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0800000" flipH="1">
            <a:off x="2239994" y="7364929"/>
            <a:ext cx="39416007" cy="4571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E5C"/>
          </a:solidFill>
          <a:ln xmlns:a="http://schemas.openxmlformats.org/drawingml/2006/main" w="12700" cap="flat" cmpd="sng">
            <a:solidFill>
              <a:srgbClr val="31538F"/>
            </a:solidFill>
            <a:prstDash val="solid"/>
            <a:miter/>
            <a:headEnd type="none" w="sm" len="sm"/>
            <a:tailEnd type="none" w="sm" len="sm"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sz="7258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73" name="Google Shape;91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9bd6659886a4a8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37490400" y="2316957"/>
            <a:ext cx="5029200" cy="36576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92" name="Google Shape;92;p1">
            <a:extLst xmlns:a="http://schemas.openxmlformats.org/drawingml/2006/main">
              <a:ext uri="{FF2B5EF4-FFF2-40B4-BE49-F238E27FC236}">
                <a16:creationId xmlns:a16="http://schemas.microsoft.com/office/drawing/2014/main" id="{90595A48-BAAF-4FFE-8024-AB946604D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514" y="6854034"/>
            <a:ext cx="184731" cy="2326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sz="725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58"/>
              <a:buFont typeface="Arial"/>
              <a:buNone/>
            </a:pPr>
            <a:r>
              <a:t/>
            </a:r>
            <a:endParaRPr sz="7258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275" name="Google Shape;93;p1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72ba2205ee460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1285819" y="3397034"/>
            <a:ext cx="7308851" cy="149742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41E11664-2714-4ADD-83F6-D45505FF2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7973568"/>
            <a:ext cx="12070080" cy="17849088"/>
          </a:xfrm>
          <a:prstGeom xmlns:a="http://schemas.openxmlformats.org/drawingml/2006/main" prst="roundRect">
            <a:avLst>
              <a:gd name="adj" fmla="val 11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6503BE05-7F6A-49C7-B5AF-E1C3C79D1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7973568"/>
            <a:ext cx="12070080" cy="1572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AFA6ED6-0E3D-4355-8AF4-8F98E10F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648" y="8193024"/>
            <a:ext cx="11137392" cy="1078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What does CSAx mean?</a:t>
            </a:r>
          </a:p>
        </p:txBody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836AE086-0093-4C61-9C1D-CC82959E6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5728" y="7973568"/>
            <a:ext cx="16239744" cy="17849088"/>
          </a:xfrm>
          <a:prstGeom xmlns:a="http://schemas.openxmlformats.org/drawingml/2006/main" prst="roundRect">
            <a:avLst>
              <a:gd name="adj" fmla="val 8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1F30B291-99E5-47C6-AE02-6E36CA86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5728" y="7973568"/>
            <a:ext cx="16239744" cy="1572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6A9416EF-FEE6-4B66-9AB9-BFF6A10F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1216" y="8193024"/>
            <a:ext cx="15307056" cy="1078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Does it match what scouts see?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A482A083-ACD0-40A3-B6FD-4F3C8EA4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960" y="7973568"/>
            <a:ext cx="12051792" cy="17849088"/>
          </a:xfrm>
          <a:prstGeom xmlns:a="http://schemas.openxmlformats.org/drawingml/2006/main" prst="roundRect">
            <a:avLst>
              <a:gd name="adj" fmla="val 113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C8AC7E44-F00C-46E0-A14E-7703780C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960" y="7973568"/>
            <a:ext cx="12051792" cy="15727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24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BFDD9058-F434-4DD6-9CA2-3ECBF64F4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16448" y="8193024"/>
            <a:ext cx="11119104" cy="1078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does it matter?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AC7FD5FE-2BC4-4E79-8139-793B8B87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9857232"/>
            <a:ext cx="11045952" cy="2066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7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7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CSAx measures physical presence relative to a player’s listed height and weight.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F739FE7-D06F-4D35-8DEB-5EC24615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2198096"/>
            <a:ext cx="5321808" cy="3163824"/>
          </a:xfrm>
          <a:prstGeom xmlns:a="http://schemas.openxmlformats.org/drawingml/2006/main" prst="roundRect">
            <a:avLst>
              <a:gd name="adj" fmla="val 289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1E71878-5003-4255-AEE4-E62936F5F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192" y="12198096"/>
            <a:ext cx="5477256" cy="3163824"/>
          </a:xfrm>
          <a:prstGeom xmlns:a="http://schemas.openxmlformats.org/drawingml/2006/main" prst="roundRect">
            <a:avLst>
              <a:gd name="adj" fmla="val 2890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93DBF5D-3C46-4235-B687-E9D8BEC8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2508992"/>
            <a:ext cx="4754880" cy="5394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DIRECT CONTACT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CF7963B2-FE0F-4056-8A3B-6EB4910D7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3222224"/>
            <a:ext cx="4663440" cy="1755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Hits given or taken, blocks, fights, contact penalties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3D365F68-D185-444A-8AD0-213519E20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2508992"/>
            <a:ext cx="4791456" cy="5394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PUCK + SPACE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F3FA8D11-4C0C-4140-9A5A-044E46125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656" y="13222224"/>
            <a:ext cx="4773168" cy="1856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Net-front plays and forechecking; defensive recoveries and entry denials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7AD34279-5696-47F0-A1CC-6C899515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5755112"/>
            <a:ext cx="10954512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75186B1-CD90-4B84-BF20-811204868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6056864"/>
            <a:ext cx="3319272" cy="557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HIGHER CSAx</a:t>
            </a:r>
          </a:p>
        </p:txBody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A89902DD-29F7-498F-AD20-1E198223E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6038576"/>
            <a:ext cx="7333488" cy="896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63B4B"/>
                </a:solidFill>
                <a:latin typeface="Arial"/>
                <a:ea typeface="Arial"/>
                <a:cs typeface="Arial"/>
              </a:rPr>
              <a:t>More physical presence for one’s size</a:t>
            </a:r>
          </a:p>
        </p:txBody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92EADD9-9FCC-4FAA-B0FA-7B3AA9D96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1368" y="17245584"/>
            <a:ext cx="3319272" cy="557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9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LOWER CSAx</a:t>
            </a:r>
          </a:p>
        </p:txBody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06E0EA2-DD16-4406-8368-C8BD883EA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7488" y="17227296"/>
            <a:ext cx="7333488" cy="896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63B4B"/>
                </a:solidFill>
                <a:latin typeface="Arial"/>
                <a:ea typeface="Arial"/>
                <a:cs typeface="Arial"/>
              </a:rPr>
              <a:t>Less physical presence for one’s size</a:t>
            </a:r>
          </a:p>
        </p:txBody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2D25F694-145E-4582-870F-509CD7964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8562320"/>
            <a:ext cx="10954512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C3E707F8-48ED-4DAC-AFF9-F2875940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8845784"/>
            <a:ext cx="10881360" cy="630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2024–25 top three</a:t>
            </a:r>
          </a:p>
        </p:txBody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21CAA26E-6DC7-44B0-B206-3CBE7D348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9705320"/>
            <a:ext cx="5330952" cy="5632704"/>
          </a:xfrm>
          <a:prstGeom xmlns:a="http://schemas.openxmlformats.org/drawingml/2006/main" prst="roundRect">
            <a:avLst>
              <a:gd name="adj" fmla="val 137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922C7462-47DE-42FB-8F91-F0FAE5953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3936" y="19705320"/>
            <a:ext cx="5330952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6A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64E1F214-9DCB-49A0-BA3B-50523D26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19769328"/>
            <a:ext cx="4928616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FORWARDS</a:t>
            </a:r>
          </a:p>
        </p:txBody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DEA89E55-00B1-4A9C-A388-CED7CDB75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0665440"/>
            <a:ext cx="466344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4D3D947C-087E-4194-B93E-1E53ABD1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2888" y="20665440"/>
            <a:ext cx="3355848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Player</a:t>
            </a:r>
          </a:p>
        </p:txBody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F8AE8627-C9C7-4B79-9D0F-266820BB5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0665440"/>
            <a:ext cx="1060704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CSAx</a:t>
            </a:r>
          </a:p>
        </p:txBody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5CCE38A3-2333-4873-83A8-EC3DD8F2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1223224"/>
            <a:ext cx="4928616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2452E10D-3422-4764-87B3-8D2A9F633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1488400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FBF14667-57E3-49AF-B0D1-C3A30633B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1488400"/>
            <a:ext cx="333756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1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263B4B"/>
                </a:solidFill>
                <a:latin typeface="Arial"/>
                <a:ea typeface="Arial"/>
                <a:cs typeface="Arial"/>
              </a:rPr>
              <a:t>Sam Carrick</a:t>
            </a:r>
          </a:p>
        </p:txBody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C2D02845-789D-4B7B-A734-7C525DCD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488400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4.69</a:t>
            </a:r>
          </a:p>
        </p:txBody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226D6F9-CE5B-44A3-BCB0-20681F60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2338792"/>
            <a:ext cx="4928616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C6D01506-262E-4683-9939-3DDB84DD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2713696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833AFE39-53DF-46FA-8A0D-5B7F71E23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2713696"/>
            <a:ext cx="333756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Mathieu Olivier</a:t>
            </a:r>
          </a:p>
        </p:txBody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67196A63-DD8F-46B1-806C-9424CD4DA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2713696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3.88</a:t>
            </a:r>
          </a:p>
        </p:txBody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752552FD-7ECF-4D8A-89DB-998BF2C61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5104" y="23564088"/>
            <a:ext cx="4928616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2DA01D05-67C2-41A3-9555-862D0D061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3392" y="23938992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DCD5DD75-AC98-40C2-8042-FDCB99EA5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3744" y="23938992"/>
            <a:ext cx="3337560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Zachary L’Heureux</a:t>
            </a:r>
          </a:p>
        </p:txBody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4C38A990-31E7-4D7A-A3C3-CF148655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3938992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3.28</a:t>
            </a:r>
          </a:p>
        </p:txBody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8BC7EE5D-B981-4A2E-BF65-C5B8B6CC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19705320"/>
            <a:ext cx="5486400" cy="5632704"/>
          </a:xfrm>
          <a:prstGeom xmlns:a="http://schemas.openxmlformats.org/drawingml/2006/main" prst="roundRect">
            <a:avLst>
              <a:gd name="adj" fmla="val 1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6EEDC9B8-5D1D-49BF-AF28-D715A267A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2048" y="19705320"/>
            <a:ext cx="5486400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6511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CE7979E3-8834-4525-8DBA-BA8C1AEE8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19769328"/>
            <a:ext cx="5084064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DEFENSEMEN</a:t>
            </a:r>
          </a:p>
        </p:txBody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9E6CD2A6-C3ED-4C95-88C3-F732BBA1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0665440"/>
            <a:ext cx="466344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85B40CA0-0155-449C-8A7A-782F8A368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0665440"/>
            <a:ext cx="3511296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Player</a:t>
            </a:r>
          </a:p>
        </p:txBody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A5AFD67D-F937-419E-9553-00E01EE59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8288" y="20665440"/>
            <a:ext cx="1060704" cy="4663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3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CSAx</a:t>
            </a:r>
          </a:p>
        </p:txBody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BB6C3B31-AE99-445F-AF15-F1F4D005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1223224"/>
            <a:ext cx="5084064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C1FD5E56-A092-44E5-8C82-85030B8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1488400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00361520-5D3A-42D4-888C-D5A749C15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21488400"/>
            <a:ext cx="3493008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1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263B4B"/>
                </a:solidFill>
                <a:latin typeface="Arial"/>
                <a:ea typeface="Arial"/>
                <a:cs typeface="Arial"/>
              </a:rPr>
              <a:t>Connor Clifton</a:t>
            </a:r>
          </a:p>
        </p:txBody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D96751CB-0FF2-487F-B6EC-51787082C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8288" y="21488400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2.95</a:t>
            </a:r>
          </a:p>
        </p:txBody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36329994-B0F0-4991-96B1-C02856C29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2338792"/>
            <a:ext cx="5084064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B0CFF728-2CFB-4973-B7AA-0A03709D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2713696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80683D85-4EE6-44E6-BF01-CDBE806E3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22713696"/>
            <a:ext cx="3493008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Radko Gudas</a:t>
            </a:r>
          </a:p>
        </p:txBody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34BC5BA5-5A77-4382-ADF1-98ADB3A0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8288" y="22713696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2.93</a:t>
            </a:r>
          </a:p>
        </p:txBody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AF046FD4-EDED-488F-9C06-22EB8741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216" y="23564088"/>
            <a:ext cx="5084064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93512257-1C1F-4945-BEAE-C2ADCEADA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504" y="23938992"/>
            <a:ext cx="41148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D0064F1A-A2A7-46BA-B5B9-878C534B6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856" y="23938992"/>
            <a:ext cx="3493008" cy="7498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Nick Seeler</a:t>
            </a:r>
          </a:p>
        </p:txBody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5DC7235A-C86D-48EC-B375-A4530E885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48288" y="23938992"/>
            <a:ext cx="105156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6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2.82</a:t>
            </a:r>
          </a:p>
        </p:txBody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0A3EBDE8-EBAF-4F66-8C33-224DB91B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8648" y="9912096"/>
            <a:ext cx="15151608" cy="6675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1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Will Cuylle | 2020 NHL draft guide</a:t>
            </a:r>
          </a:p>
        </p:txBody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FC542FB0-231C-47B2-9691-356028BDF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2928" y="10725912"/>
            <a:ext cx="15288768" cy="3172968"/>
          </a:xfrm>
          <a:prstGeom xmlns:a="http://schemas.openxmlformats.org/drawingml/2006/main" prst="roundRect">
            <a:avLst>
              <a:gd name="adj" fmla="val 2882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8DD9DCA-814D-4862-A9FC-8A57C97EB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9544" y="11009376"/>
            <a:ext cx="14557248" cy="20939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3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33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“Powerful skater with good speed. … Heavy on the body and on pursuit of pucks. Very strong puck protection and wall play. Excellent net-front presence.”</a:t>
            </a:r>
          </a:p>
        </p:txBody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EACA635C-0234-4C0B-B74B-D1776927D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9544" y="13231368"/>
            <a:ext cx="14548104" cy="4754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4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NHL Central Scouting, 2020 draft guide</a:t>
            </a:r>
          </a:p>
        </p:txBody>
      </p:sp>
      <p:pic>
        <p:nvPicPr>
          <p:cNvPr id="3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3208f2def4cba"/>
          <a:srcRect xmlns:a="http://schemas.openxmlformats.org/drawingml/2006/main" l="33" t="0" r="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145768" y="14548104"/>
            <a:ext cx="15480792" cy="8997696"/>
          </a:xfrm>
          <a:prstGeom xmlns:a="http://schemas.openxmlformats.org/drawingml/2006/main" prst="rect">
            <a:avLst/>
          </a:prstGeom>
        </p:spPr>
      </p:pic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11E0850D-EDD6-436D-A119-709A482C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46936" y="23810976"/>
            <a:ext cx="15014448" cy="1298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Each dot is a player; diamonds mark group means. Brackets show 95% intervals.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Active-engagement descriptions align with higher CSAx in both positions.</a:t>
            </a:r>
          </a:p>
        </p:txBody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87149075-C58F-4700-B2BA-03CA5C53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9866376"/>
            <a:ext cx="10972800" cy="6217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2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Special-teams ice time</a:t>
            </a:r>
          </a:p>
        </p:txBody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DD2FAEAF-3FB3-45C6-A2FE-8A336A42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0533888"/>
            <a:ext cx="10954512" cy="4937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Share of total ice time; CSAx +1 versus −1</a:t>
            </a:r>
          </a:p>
        </p:txBody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0E94887E-9192-4C96-876A-A58358DB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1164824"/>
            <a:ext cx="10954512" cy="2478024"/>
          </a:xfrm>
          <a:prstGeom xmlns:a="http://schemas.openxmlformats.org/drawingml/2006/main" prst="roundRect">
            <a:avLst>
              <a:gd name="adj" fmla="val 2952"/>
            </a:avLst>
          </a:prstGeom>
          <a:solidFill xmlns:a="http://schemas.openxmlformats.org/drawingml/2006/main">
            <a:srgbClr val="EAF2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6F759BC4-E20B-41AD-9D1B-6DF6DF7FF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35720" y="11411712"/>
            <a:ext cx="3584448" cy="429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POWER PLAY</a:t>
            </a:r>
          </a:p>
        </p:txBody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D3C4CD34-A9E8-4F53-A645-2F3B9A5B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7016" y="11411712"/>
            <a:ext cx="3685032" cy="429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00" b="1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536673"/>
                </a:solidFill>
                <a:latin typeface="Arial"/>
                <a:ea typeface="Arial"/>
                <a:cs typeface="Arial"/>
              </a:rPr>
              <a:t>PENALTY KILL</a:t>
            </a:r>
          </a:p>
        </p:txBody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C100621B-1BEA-4452-83BD-791AA8D0A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27344" y="11942064"/>
            <a:ext cx="10405872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F845C5F8-F433-4B19-8F53-7EA11B8E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3920" y="12088368"/>
            <a:ext cx="2816352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Forwards</a:t>
            </a:r>
          </a:p>
        </p:txBody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980CF02A-91A2-4373-BD13-CAE2B3A6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4008" y="12088368"/>
            <a:ext cx="3538728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−1.2 points</a:t>
            </a:r>
          </a:p>
        </p:txBody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51DFA8BB-CE5B-4E4C-9E30-7DCE4A63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0" y="12088368"/>
            <a:ext cx="3685032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+1.4 points</a:t>
            </a:r>
          </a:p>
        </p:txBody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BD8F3D6D-3C4F-44FF-AC99-F5DE6D2E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63920" y="12801600"/>
            <a:ext cx="2980944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Defensemen</a:t>
            </a:r>
          </a:p>
        </p:txBody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31561742-5AD0-42AD-A0BD-876E6F2C9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54008" y="12801600"/>
            <a:ext cx="3538728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−0.9 points</a:t>
            </a:r>
          </a:p>
        </p:txBody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11B5A667-068A-4E43-AD68-D015A4F5C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56160" y="12801600"/>
            <a:ext cx="3685032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5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5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+1.3 points</a:t>
            </a:r>
          </a:p>
        </p:txBody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E795EDC7-C04C-4BC5-96DF-0809AB1A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4072616"/>
            <a:ext cx="10954512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1FAA3973-E967-4E4F-A683-0FAAB634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4337792"/>
            <a:ext cx="10936224" cy="6766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2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Playoff hitting | forwards</a:t>
            </a:r>
          </a:p>
        </p:txBody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C4CBCE6F-43CD-43E4-867F-5C947C575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5078456"/>
            <a:ext cx="10826496" cy="5120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First four playoff games vs. regular-season baseline</a:t>
            </a:r>
          </a:p>
        </p:txBody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BB07E225-4802-4D88-886B-E52CD7A0E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15819120"/>
            <a:ext cx="2935224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Lower CSAx</a:t>
            </a:r>
          </a:p>
        </p:txBody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16944FB6-679E-4ABC-9891-5A2A5FB7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8832" y="15883128"/>
            <a:ext cx="5724144" cy="438912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8CC6D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7C91B72D-E69C-4014-ABBA-DFE6EDF2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0" y="15745968"/>
            <a:ext cx="175564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9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+136%</a:t>
            </a:r>
          </a:p>
        </p:txBody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46C902F3-023A-4E5F-ACB4-374A9B04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16934688"/>
            <a:ext cx="3035808" cy="4846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Higher CSAx</a:t>
            </a:r>
          </a:p>
        </p:txBody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860D615F-E318-4A01-BBC8-1D433FC6E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8832" y="16998696"/>
            <a:ext cx="3538728" cy="438912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176A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258CE5F2-5440-4EAD-B3AF-74E4784F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0" y="16870680"/>
            <a:ext cx="1755648" cy="59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9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9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+84%</a:t>
            </a:r>
          </a:p>
        </p:txBody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DF095B1-FFF2-40F8-AC4D-F0C8CECBB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9600" y="17949672"/>
            <a:ext cx="10744200" cy="12070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Hits rise in both forward profiles, with a smaller proportional rise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for higher-CSAx players; the defenseman contrast is uncertain.</a:t>
            </a:r>
          </a:p>
        </p:txBody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8834D698-E363-46BF-9FEF-A52236D30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9421856"/>
            <a:ext cx="10954512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59C66F81-52B3-4945-9253-84DBA197E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19668744"/>
            <a:ext cx="10945368" cy="6583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2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Next-season roster continuation</a:t>
            </a:r>
          </a:p>
        </p:txBody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5AE79257-2397-4902-A5EC-760304AD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3024" y="20409408"/>
            <a:ext cx="10789920" cy="5394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Chance of reaching 300 NHL minutes; CSAx +1 versus −1</a:t>
            </a:r>
          </a:p>
        </p:txBody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68BD4A9D-13F1-421E-A1D3-EE93CBFBF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21140928"/>
            <a:ext cx="10744200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67CCC70C-BC63-48AD-8BBF-3FAFD8133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21378672"/>
            <a:ext cx="4818888" cy="576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Forwards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B69D697E-41E3-4A8A-A9BC-A2C51757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3040" y="21378672"/>
            <a:ext cx="5998464" cy="576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800" b="1">
                <a:solidFill>
                  <a:srgbClr val="176A85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176A85"/>
                </a:solidFill>
                <a:latin typeface="Arial"/>
                <a:ea typeface="Arial"/>
                <a:cs typeface="Arial"/>
              </a:rPr>
              <a:t>+2.9 percentage points</a:t>
            </a:r>
          </a:p>
        </p:txBody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DC35AFD9-E6F8-42BD-A5BB-7EF386C3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22146768"/>
            <a:ext cx="10744200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F62A824D-164A-42C0-AFA5-16FF2B00E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22384512"/>
            <a:ext cx="4818888" cy="576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8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Defensemen</a:t>
            </a:r>
          </a:p>
        </p:txBody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5ECF5125-22C9-48ED-B641-F5A368B81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53040" y="22384512"/>
            <a:ext cx="5998464" cy="576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2800" b="1">
                <a:solidFill>
                  <a:srgbClr val="96511E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96511E"/>
                </a:solidFill>
                <a:latin typeface="Arial"/>
                <a:ea typeface="Arial"/>
                <a:cs typeface="Arial"/>
              </a:rPr>
              <a:t>+4.2 percentage points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F2A80DB6-B65A-4BA9-AA23-2F3543AA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7032" y="23152608"/>
            <a:ext cx="10744200" cy="1645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2DEE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844EE353-9A88-44BE-A7A5-3BE627DDC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80456" y="23554944"/>
            <a:ext cx="10789920" cy="13350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Among returners, higher CSAx shows no clear increase in minutes per game.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1D2DAE33-BB6C-4F01-A4A0-C80265C4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6243280"/>
            <a:ext cx="41312592" cy="603504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383">
            <a:solidFill>
              <a:srgbClr val="D2DEE4"/>
            </a:solidFill>
            <a:prstDash val="solid"/>
          </a:ln>
        </p:spPr>
      </p:sp>
      <p:pic>
        <p:nvPicPr>
          <p:cNvPr id="3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fccf41754044f1"/>
          <a:srcRect xmlns:a="http://schemas.openxmlformats.org/drawingml/2006/main" l="0" t="14000" r="0" b="2000"/>
          <a:stretch xmlns:a="http://schemas.openxmlformats.org/drawingml/2006/main"/>
        </p:blipFill>
        <p:spPr>
          <a:xfrm xmlns:a="http://schemas.openxmlformats.org/drawingml/2006/main">
            <a:off x="1563624" y="26645616"/>
            <a:ext cx="8183880" cy="4599432"/>
          </a:xfrm>
          <a:prstGeom xmlns:a="http://schemas.openxmlformats.org/drawingml/2006/main" prst="rect">
            <a:avLst/>
          </a:prstGeom>
        </p:spPr>
      </p:pic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937B5D24-6D8A-463E-AF41-C686463AA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3624" y="31409640"/>
            <a:ext cx="8183880" cy="4297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300" b="0">
                <a:solidFill>
                  <a:srgbClr val="536673"/>
                </a:solidFill>
                <a:latin typeface="Arial"/>
                <a:ea typeface="Arial"/>
                <a:cs typeface="Arial"/>
              </a:defRPr>
            </a:pPr>
            <a:r>
              <a:rPr sz="2300" b="0">
                <a:solidFill>
                  <a:srgbClr val="536673"/>
                </a:solidFill>
                <a:latin typeface="Arial"/>
                <a:ea typeface="Arial"/>
                <a:cs typeface="Arial"/>
              </a:rPr>
              <a:t>2025 NHL intern cohort</a:t>
            </a:r>
          </a:p>
        </p:txBody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082DFCC8-4C22-4BF2-B080-C337947A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26618184"/>
            <a:ext cx="1225296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Behind this study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DD5313DB-0514-466F-804E-3BB7D7E2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27395424"/>
            <a:ext cx="12188952" cy="21854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My NHL Stats R&amp;D internship let me draw on advice from supervisors and colleagues as this research took shape.</a:t>
            </a:r>
          </a:p>
        </p:txBody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3D3C7DD3-DF77-426C-988F-F3A0BB68E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1552" y="29946600"/>
            <a:ext cx="12243816" cy="14264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5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25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Next: Carnegie Mellon poster, MIT Sloan submission, and a journal manuscript.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7A46DDD1-B0B0-498E-85A6-2571EAD37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8872" y="26618184"/>
            <a:ext cx="8778240" cy="5852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Sources</a:t>
            </a:r>
          </a:p>
        </p:txBody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CDB044B0-E3E5-4CC5-87D3-0DC39FB57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78872" y="27404568"/>
            <a:ext cx="8887968" cy="2551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6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NHL play-by-play and official ice time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6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All Three Zones (Corey Sznajder)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2600" b="0">
                <a:solidFill>
                  <a:srgbClr val="263B4B"/>
                </a:solidFill>
                <a:latin typeface="Arial"/>
                <a:ea typeface="Arial"/>
                <a:cs typeface="Arial"/>
              </a:defRPr>
            </a:pPr>
            <a:r>
              <a:rPr sz="2600" b="0">
                <a:solidFill>
                  <a:srgbClr val="263B4B"/>
                </a:solidFill>
                <a:latin typeface="Arial"/>
                <a:ea typeface="Arial"/>
                <a:cs typeface="Arial"/>
              </a:rPr>
              <a:t>NHL Central Scouting draft guide</a:t>
            </a:r>
          </a:p>
        </p:txBody>
      </p:sp>
      <p:pic>
        <p:nvPicPr>
          <p:cNvPr id="3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1811421d9746af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2488632" y="26901648"/>
            <a:ext cx="4919472" cy="4919472"/>
          </a:xfrm>
          <a:prstGeom xmlns:a="http://schemas.openxmlformats.org/drawingml/2006/main" prst="rect">
            <a:avLst/>
          </a:prstGeom>
        </p:spPr>
      </p:pic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0D7800BA-7FAA-4B82-AA76-6B05DFD11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7832" y="27697176"/>
            <a:ext cx="4690872" cy="319125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Full 2024–25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rankings and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3000" b="1">
                <a:solidFill>
                  <a:srgbClr val="17324D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324D"/>
                </a:solidFill>
                <a:latin typeface="Arial"/>
                <a:ea typeface="Arial"/>
                <a:cs typeface="Arial"/>
              </a:rPr>
              <a:t>technical details</a:t>
            </a:r>
          </a:p>
        </p:txBody>
      </p:sp>
    </p:spTree>
    <p:extLst>
      <p:ext uri="{BB962C8B-B14F-4D97-AF65-F5344CB8AC3E}">
        <p14:creationId xmlns:p14="http://schemas.microsoft.com/office/powerpoint/2010/main" val="33436650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2026-09-28T13:49:03.6390000Z</dcterms:created>
  <dcterms:modified xsi:type="dcterms:W3CDTF">2026-09-28T13:49:03.6390000Z</dcterms:modified>
</coreProperties>
</file>