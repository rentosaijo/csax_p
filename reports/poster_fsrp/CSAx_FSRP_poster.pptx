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32918400" cx="438912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gUtcgO2GcO7QniCZysmU1lP9f+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68" orient="horz"/>
        <p:guide pos="13824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3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3600">
              <a:solidFill>
                <a:srgbClr val="FF0000"/>
              </a:solidFill>
            </a:endParaRPr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3291840" y="5387342"/>
            <a:ext cx="37307519" cy="11460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5486400" y="17289781"/>
            <a:ext cx="32918401" cy="79476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/>
            </a:lvl1pPr>
            <a:lvl2pPr lvl="1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/>
            </a:lvl2pPr>
            <a:lvl3pPr lvl="2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/>
            </a:lvl3pPr>
            <a:lvl4pPr lvl="3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4pPr>
            <a:lvl5pPr lvl="4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5pPr>
            <a:lvl6pPr lvl="5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6pPr>
            <a:lvl7pPr lvl="6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7pPr>
            <a:lvl8pPr lvl="7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8pPr>
            <a:lvl9pPr lvl="8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2994662" y="8206749"/>
            <a:ext cx="37856160" cy="13693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2994662" y="22029430"/>
            <a:ext cx="37856160" cy="72008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96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864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017520" y="8763000"/>
            <a:ext cx="18653759" cy="20886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22219920" y="8763000"/>
            <a:ext cx="18653759" cy="20886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023237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023242" y="8069582"/>
            <a:ext cx="18568032" cy="395477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b="1" sz="11520"/>
            </a:lvl1pPr>
            <a:lvl2pPr indent="-2286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b="1" sz="9600"/>
            </a:lvl2pPr>
            <a:lvl3pPr indent="-2286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b="1" sz="8640"/>
            </a:lvl3pPr>
            <a:lvl4pPr indent="-2286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4pPr>
            <a:lvl5pPr indent="-2286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5pPr>
            <a:lvl6pPr indent="-2286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6pPr>
            <a:lvl7pPr indent="-2286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7pPr>
            <a:lvl8pPr indent="-2286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8pPr>
            <a:lvl9pPr indent="-2286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023242" y="12024360"/>
            <a:ext cx="18568032" cy="176860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22219922" y="8069582"/>
            <a:ext cx="18659477" cy="395477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b="1" sz="11520"/>
            </a:lvl1pPr>
            <a:lvl2pPr indent="-2286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b="1" sz="9600"/>
            </a:lvl2pPr>
            <a:lvl3pPr indent="-2286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b="1" sz="8640"/>
            </a:lvl3pPr>
            <a:lvl4pPr indent="-2286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4pPr>
            <a:lvl5pPr indent="-2286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5pPr>
            <a:lvl6pPr indent="-2286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6pPr>
            <a:lvl7pPr indent="-2286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7pPr>
            <a:lvl8pPr indent="-2286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8pPr>
            <a:lvl9pPr indent="-2286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b="1" sz="768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22219922" y="12024360"/>
            <a:ext cx="18659477" cy="176860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3023237" y="2194560"/>
            <a:ext cx="14156054" cy="7680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18659477" y="4739647"/>
            <a:ext cx="22219920" cy="233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120396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5360"/>
            </a:lvl1pPr>
            <a:lvl2pPr indent="-108204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13439"/>
            </a:lvl2pPr>
            <a:lvl3pPr indent="-96012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11520"/>
            </a:lvl3pPr>
            <a:lvl4pPr indent="-8382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4pPr>
            <a:lvl5pPr indent="-8382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5pPr>
            <a:lvl6pPr indent="-8382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6pPr>
            <a:lvl7pPr indent="-8382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7pPr>
            <a:lvl8pPr indent="-8382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8pPr>
            <a:lvl9pPr indent="-8382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3023237" y="9875520"/>
            <a:ext cx="14156054" cy="1829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indent="-2286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19"/>
            </a:lvl2pPr>
            <a:lvl3pPr indent="-2286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indent="-2286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indent="-2286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indent="-2286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indent="-2286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indent="-2286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indent="-2286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3023237" y="2194560"/>
            <a:ext cx="14156054" cy="7680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18659477" y="4739647"/>
            <a:ext cx="22219920" cy="23393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3023237" y="9875520"/>
            <a:ext cx="14156054" cy="1829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indent="-2286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19"/>
            </a:lvl2pPr>
            <a:lvl3pPr indent="-2286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indent="-2286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indent="-2286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indent="-2286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indent="-2286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indent="-2286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indent="-2286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11502390" y="278131"/>
            <a:ext cx="20886422" cy="3785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22193250" y="10968991"/>
            <a:ext cx="27896822" cy="946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2990852" y="1779270"/>
            <a:ext cx="27896822" cy="27843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b="0" i="0" sz="2112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1082040" lvl="0" marL="457200" marR="0" rtl="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b="0" i="0" sz="1343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960120" lvl="1" marL="9144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b="0" i="0" sz="1152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38200" lvl="2" marL="13716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b="0" i="0" sz="9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777240" lvl="3" marL="18288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777240" lvl="4" marL="22860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777240" lvl="5" marL="27432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777240" lvl="6" marL="32004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77240" lvl="7" marL="36576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777240" lvl="8" marL="41148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b="0" i="0" sz="864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3017520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14538959" y="30510488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25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30998159" y="30510488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b="0" i="0" sz="576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hyperlink" Target="https://docs.google.com/forms/d/e/1FAIpQLSdwHXkVG_lSEiTIzaibdUw0rpiDiwJreoLuetvnBbUWVrkQaw/viewform?usp=dialog" TargetMode="External"/><Relationship Id="rId6" Type="http://schemas.openxmlformats.org/officeDocument/2006/relationships/image" Target="../media/image3.png"/><Relationship Id="rId7" Type="http://schemas.openxmlformats.org/officeDocument/2006/relationships/image" Target="../media/image4.jpg"/><Relationship Id="rId8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7B7B7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/>
        </p:nvSpPr>
        <p:spPr>
          <a:xfrm>
            <a:off x="2240075" y="822175"/>
            <a:ext cx="39416100" cy="69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Arial"/>
              <a:buNone/>
            </a:pPr>
            <a:r>
              <a:rPr b="1" lang="en-US" sz="8500">
                <a:solidFill>
                  <a:schemeClr val="dk1"/>
                </a:solidFill>
              </a:rPr>
              <a:t>Playing Tougher for One’s Size: Positional Physicality in the NHL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1" lang="en-US" sz="6000">
                <a:solidFill>
                  <a:schemeClr val="dk1"/>
                </a:solidFill>
              </a:rPr>
              <a:t>Rento Saijo </a:t>
            </a:r>
            <a:r>
              <a:rPr b="1" i="1" lang="en-US" sz="6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‘</a:t>
            </a:r>
            <a:r>
              <a:rPr b="1" i="1" lang="en-US" sz="6000">
                <a:solidFill>
                  <a:schemeClr val="dk1"/>
                </a:solidFill>
              </a:rPr>
              <a:t>28</a:t>
            </a:r>
            <a:br>
              <a:rPr b="1" i="0" lang="en-US" sz="6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1" lang="en-US" sz="6000">
                <a:solidFill>
                  <a:schemeClr val="dk1"/>
                </a:solidFill>
              </a:rPr>
              <a:t>Statistics and Data Science, Computer Science</a:t>
            </a:r>
            <a:endParaRPr b="1" i="0" sz="6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1" lang="en-US" sz="6000">
                <a:solidFill>
                  <a:schemeClr val="dk1"/>
                </a:solidFill>
              </a:rPr>
              <a:t>Data, Information, and Society Pathway</a:t>
            </a:r>
            <a:endParaRPr b="1" i="0" sz="6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1" lang="en-US" sz="6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Funded Sophomore Research Program</a:t>
            </a:r>
            <a:endParaRPr b="1" i="1" sz="6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1" lang="en-US" sz="6000">
                <a:solidFill>
                  <a:schemeClr val="dk1"/>
                </a:solidFill>
              </a:rPr>
              <a:t>Jeff Moher, Connecticut College; Sian Lee, Michigan State University; Yeongjun Seo, U. of Tennessee</a:t>
            </a:r>
            <a:endParaRPr b="1" i="1" sz="6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t/>
            </a:r>
            <a:endParaRPr b="1" i="0" sz="6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 flipH="1" rot="10800000">
            <a:off x="2239994" y="7364929"/>
            <a:ext cx="39416007" cy="45719"/>
          </a:xfrm>
          <a:prstGeom prst="rect">
            <a:avLst/>
          </a:prstGeom>
          <a:solidFill>
            <a:srgbClr val="0F2E5C"/>
          </a:solidFill>
          <a:ln cap="flat" cmpd="sng" w="12700">
            <a:solidFill>
              <a:srgbClr val="31538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b="0" i="0" sz="7258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90400" y="2316957"/>
            <a:ext cx="50292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5094514" y="6854034"/>
            <a:ext cx="184731" cy="2326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b="0" i="0" sz="725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b="0" i="0" sz="725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5819" y="3397034"/>
            <a:ext cx="7308851" cy="149742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1280160" y="7973568"/>
            <a:ext cx="12070080" cy="17849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80160" y="7973568"/>
            <a:ext cx="12070080" cy="157276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755648" y="8211312"/>
            <a:ext cx="1115568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What does CSAx mean?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3825728" y="7973568"/>
            <a:ext cx="16239744" cy="17849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825728" y="7973568"/>
            <a:ext cx="16239744" cy="157276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4301215" y="8211312"/>
            <a:ext cx="15325344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Does it match what scouts see?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0540960" y="7973568"/>
            <a:ext cx="12051792" cy="17849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0540960" y="7973568"/>
            <a:ext cx="12051792" cy="157276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16448" y="8211312"/>
            <a:ext cx="11137392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Where does it matter?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783080" y="9857232"/>
            <a:ext cx="1101852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700" b="1">
                <a:solidFill>
                  <a:srgbClr val="17324D"/>
                </a:solidFill>
                <a:latin typeface="Arial"/>
              </a:rPr>
              <a:t>Height and weight describe a player’s frame. How they play can tell a different story.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783080" y="12124944"/>
            <a:ext cx="11000232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>
                <a:solidFill>
                  <a:srgbClr val="253746"/>
                </a:solidFill>
                <a:latin typeface="Arial"/>
              </a:rPr>
              <a:t>We use recorded NHL actions to ask: does this skater play with more physical presence than their size suggests?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55648" y="14740128"/>
            <a:ext cx="5303520" cy="2880360"/>
          </a:xfrm>
          <a:prstGeom prst="roundRect">
            <a:avLst>
              <a:gd name="adj" fmla="val 10000"/>
            </a:avLst>
          </a:prstGeom>
          <a:solidFill>
            <a:srgbClr val="E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7242048" y="14740128"/>
            <a:ext cx="5468112" cy="2880360"/>
          </a:xfrm>
          <a:prstGeom prst="roundRect">
            <a:avLst>
              <a:gd name="adj" fmla="val 10000"/>
            </a:avLst>
          </a:prstGeom>
          <a:solidFill>
            <a:srgbClr val="E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75688" y="15078455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6A85"/>
                </a:solidFill>
                <a:latin typeface="Arial"/>
              </a:rPr>
              <a:t>DIRECT CONTACT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5688" y="15709392"/>
            <a:ext cx="4626864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253746"/>
                </a:solidFill>
                <a:latin typeface="Arial"/>
              </a:rPr>
              <a:t>Hits given or taken, blocks, fights, contact penalties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62088" y="15078455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6A85"/>
                </a:solidFill>
                <a:latin typeface="Arial"/>
              </a:rPr>
              <a:t>PUCK + SPACE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62088" y="15709392"/>
            <a:ext cx="47000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253746"/>
                </a:solidFill>
                <a:latin typeface="Arial"/>
              </a:rPr>
              <a:t>Net-front plays and forechecking; defensive recoveries and entry denials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83080" y="18077688"/>
            <a:ext cx="10954512" cy="2697480"/>
          </a:xfrm>
          <a:prstGeom prst="roundRect">
            <a:avLst>
              <a:gd name="adj" fmla="val 10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75688" y="18342864"/>
            <a:ext cx="3703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>
                <a:solidFill>
                  <a:srgbClr val="F6BE54"/>
                </a:solidFill>
                <a:latin typeface="Arial"/>
              </a:rPr>
              <a:t>Higher CSAx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0" y="18333720"/>
            <a:ext cx="649224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0">
                <a:solidFill>
                  <a:srgbClr val="FFFFFF"/>
                </a:solidFill>
                <a:latin typeface="Arial"/>
              </a:rPr>
              <a:t>More physical presence relative to listed size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83080" y="21122640"/>
            <a:ext cx="10981944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5C6F79"/>
                </a:solidFill>
                <a:latin typeface="Arial"/>
              </a:rPr>
              <a:t>A lower score describes less measured physicality for one’s frame—not skill, courage, or overall value.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83080" y="22860000"/>
            <a:ext cx="109270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Arial"/>
              </a:rPr>
              <a:t>High-CSAx examples (2024–25)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83080" y="23609808"/>
            <a:ext cx="1091793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>
                <a:solidFill>
                  <a:srgbClr val="253746"/>
                </a:solidFill>
                <a:latin typeface="Arial"/>
              </a:rPr>
              <a:t>Forwards: Sam Carrick, Mathieu Olivier
Defensemen: Connor Clifton, Radko Gudas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83080" y="25072848"/>
            <a:ext cx="1096365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100" b="0">
                <a:solidFill>
                  <a:srgbClr val="5C6F79"/>
                </a:solidFill>
                <a:latin typeface="Arial"/>
              </a:rPr>
              <a:t>Sources: NHL play-by-play and All Three Zones; 2021–22 to 2024–25.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282928" y="9793224"/>
            <a:ext cx="15224759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0">
                <a:solidFill>
                  <a:srgbClr val="253746"/>
                </a:solidFill>
                <a:latin typeface="Arial"/>
              </a:rPr>
              <a:t>Scouts wrote these descriptions before the NHL seasons we score.</a:t>
            </a:r>
          </a:p>
        </p:txBody>
      </p:sp>
      <p:pic>
        <p:nvPicPr>
          <p:cNvPr id="119" name="Picture 118" descr="csax_scouting_pos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18920" y="10543032"/>
            <a:ext cx="15380208" cy="891540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14301216" y="19421856"/>
            <a:ext cx="149961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500" b="0">
                <a:solidFill>
                  <a:srgbClr val="5C6F79"/>
                </a:solidFill>
                <a:latin typeface="Arial"/>
              </a:rPr>
              <a:t>Each dot is one player; diamonds mark group averages. Brackets show 95% intervals for the average difference.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301216" y="20427696"/>
            <a:ext cx="14859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76A85"/>
                </a:solidFill>
                <a:latin typeface="Arial"/>
              </a:rPr>
              <a:t>No mention in a report does not mean the scout called the player soft.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4228064" y="21424392"/>
            <a:ext cx="15380208" cy="4005072"/>
          </a:xfrm>
          <a:prstGeom prst="roundRect">
            <a:avLst>
              <a:gd name="adj" fmla="val 10000"/>
            </a:avLst>
          </a:prstGeom>
          <a:solidFill>
            <a:srgbClr val="E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66392" y="21680424"/>
            <a:ext cx="145389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17324D"/>
                </a:solidFill>
                <a:latin typeface="Arial"/>
              </a:rPr>
              <a:t>What changes in the playoffs?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566392" y="22448520"/>
            <a:ext cx="143560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>
                <a:solidFill>
                  <a:srgbClr val="253746"/>
                </a:solidFill>
                <a:latin typeface="Arial"/>
              </a:rPr>
              <a:t>Forwards: both profiles deliver more hits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4630400" y="23234904"/>
            <a:ext cx="8311896" cy="493776"/>
          </a:xfrm>
          <a:prstGeom prst="roundRect">
            <a:avLst>
              <a:gd name="adj" fmla="val 10000"/>
            </a:avLst>
          </a:prstGeom>
          <a:solidFill>
            <a:srgbClr val="176A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3216616" y="23061168"/>
            <a:ext cx="584301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7324D"/>
                </a:solidFill>
                <a:latin typeface="Arial"/>
              </a:rPr>
              <a:t>Lower CSAx  +136%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4630400" y="23911560"/>
            <a:ext cx="5120640" cy="493776"/>
          </a:xfrm>
          <a:prstGeom prst="roundRect">
            <a:avLst>
              <a:gd name="adj" fmla="val 10000"/>
            </a:avLst>
          </a:prstGeom>
          <a:solidFill>
            <a:srgbClr val="F6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3216616" y="23756112"/>
            <a:ext cx="584301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7324D"/>
                </a:solidFill>
                <a:latin typeface="Arial"/>
              </a:rPr>
              <a:t>Higher CSAx  +84%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566392" y="24624792"/>
            <a:ext cx="14356080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300" b="0">
                <a:solidFill>
                  <a:srgbClr val="5C6F79"/>
                </a:solidFill>
                <a:latin typeface="Arial"/>
              </a:rPr>
              <a:t>Adjusted hit-rate rise, first four playoff games. The defenseman contrast is uncertain.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1053024" y="98389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>
                <a:solidFill>
                  <a:srgbClr val="17324D"/>
                </a:solidFill>
                <a:latin typeface="Arial"/>
              </a:rPr>
              <a:t>Special teams assign different jobs.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053024" y="10762488"/>
            <a:ext cx="1089964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0">
                <a:solidFill>
                  <a:srgbClr val="253746"/>
                </a:solidFill>
                <a:latin typeface="Arial"/>
              </a:rPr>
              <a:t>Power play: your team has an extra skater.
Penalty kill: your team plays one skater short.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53024" y="12975336"/>
            <a:ext cx="10899648" cy="2075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0">
                <a:solidFill>
                  <a:srgbClr val="253746"/>
                </a:solidFill>
                <a:latin typeface="Arial"/>
              </a:rPr>
              <a:t>Higher CSAx is linked to slightly less power-play time and more penalty-kill time in both positions.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1053024" y="15288767"/>
            <a:ext cx="10899648" cy="3310128"/>
          </a:xfrm>
          <a:prstGeom prst="roundRect">
            <a:avLst>
              <a:gd name="adj" fmla="val 10000"/>
            </a:avLst>
          </a:prstGeom>
          <a:solidFill>
            <a:srgbClr val="E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1363919" y="1549908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500" b="1">
                <a:solidFill>
                  <a:srgbClr val="17324D"/>
                </a:solidFill>
                <a:latin typeface="Arial"/>
              </a:rPr>
              <a:t>Change in share of total ice time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664904" y="16203167"/>
            <a:ext cx="3337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00" b="1">
                <a:solidFill>
                  <a:srgbClr val="5C6F79"/>
                </a:solidFill>
                <a:latin typeface="Arial"/>
              </a:rPr>
              <a:t>Power play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093904" y="16203167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300" b="1">
                <a:solidFill>
                  <a:srgbClr val="5C6F79"/>
                </a:solidFill>
                <a:latin typeface="Arial"/>
              </a:rPr>
              <a:t>Penalty kill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363919" y="16788384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253746"/>
                </a:solidFill>
                <a:latin typeface="Arial"/>
              </a:rPr>
              <a:t>Forwards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664904" y="16788384"/>
            <a:ext cx="3337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500" b="0">
                <a:solidFill>
                  <a:srgbClr val="253746"/>
                </a:solidFill>
                <a:latin typeface="Arial"/>
              </a:rPr>
              <a:t>−1.2 points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093904" y="16788384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500" b="0">
                <a:solidFill>
                  <a:srgbClr val="253746"/>
                </a:solidFill>
                <a:latin typeface="Arial"/>
              </a:rPr>
              <a:t>+1.4 points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1363919" y="17483328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253746"/>
                </a:solidFill>
                <a:latin typeface="Arial"/>
              </a:rPr>
              <a:t>Defensemen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664904" y="17483328"/>
            <a:ext cx="3337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500" b="0">
                <a:solidFill>
                  <a:srgbClr val="253746"/>
                </a:solidFill>
                <a:latin typeface="Arial"/>
              </a:rPr>
              <a:t>−0.9 points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093904" y="17483328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500" b="0">
                <a:solidFill>
                  <a:srgbClr val="253746"/>
                </a:solidFill>
                <a:latin typeface="Arial"/>
              </a:rPr>
              <a:t>+1.3 points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1363919" y="18781776"/>
            <a:ext cx="1021384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5C6F79"/>
                </a:solidFill>
                <a:latin typeface="Arial"/>
              </a:rPr>
              <a:t>Comparison: CSAx +1 versus −1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053024" y="19568160"/>
            <a:ext cx="106070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17324D"/>
                </a:solidFill>
                <a:latin typeface="Arial"/>
              </a:rPr>
              <a:t>More likely to return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053024" y="20445984"/>
            <a:ext cx="106801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253746"/>
                </a:solidFill>
                <a:latin typeface="Arial"/>
              </a:rPr>
              <a:t>Chance of reaching 300 NHL minutes the next season: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1135319" y="21662136"/>
            <a:ext cx="5010912" cy="1709928"/>
          </a:xfrm>
          <a:prstGeom prst="roundRect">
            <a:avLst>
              <a:gd name="adj" fmla="val 10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374832" y="21662136"/>
            <a:ext cx="5330952" cy="1709928"/>
          </a:xfrm>
          <a:prstGeom prst="roundRect">
            <a:avLst>
              <a:gd name="adj" fmla="val 10000"/>
            </a:avLst>
          </a:prstGeom>
          <a:solidFill>
            <a:srgbClr val="176A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1272480" y="21781008"/>
            <a:ext cx="471830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"/>
              </a:rPr>
              <a:t>+2.9 points
for forwards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02848" y="21781008"/>
            <a:ext cx="5074920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"/>
              </a:rPr>
              <a:t>+4.2 points
for defensemen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053024" y="23719536"/>
            <a:ext cx="10735056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253746"/>
                </a:solidFill>
                <a:latin typeface="Arial"/>
              </a:rPr>
              <a:t>Among players who return, higher CSAx does not show a clear increase in minutes per game.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280160" y="26243280"/>
            <a:ext cx="41312592" cy="6035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csax_intern_cohort.jpg"/>
          <p:cNvPicPr>
            <a:picLocks noChangeAspect="1"/>
          </p:cNvPicPr>
          <p:nvPr/>
        </p:nvPicPr>
        <p:blipFill>
          <a:blip r:embed="rId7"/>
          <a:srcRect t="14000" b="2000"/>
          <a:stretch>
            <a:fillRect/>
          </a:stretch>
        </p:blipFill>
        <p:spPr>
          <a:xfrm>
            <a:off x="1572768" y="26663904"/>
            <a:ext cx="8229600" cy="4608576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1572768" y="31409640"/>
            <a:ext cx="82296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5C6F79"/>
                </a:solidFill>
                <a:latin typeface="Arial"/>
              </a:rPr>
              <a:t>2025 NHL intern cohort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31552" y="26545032"/>
            <a:ext cx="11914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17324D"/>
                </a:solidFill>
                <a:latin typeface="Arial"/>
              </a:rPr>
              <a:t>NHL Stats R&amp;D intern cohort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131552" y="27303984"/>
            <a:ext cx="12646152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>
                <a:solidFill>
                  <a:srgbClr val="253746"/>
                </a:solidFill>
                <a:latin typeface="Arial"/>
              </a:rPr>
              <a:t>During my NHL internship, conversations with the Stats R&amp;D team helped sharpen the hockey questions behind this study.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131552" y="29352240"/>
            <a:ext cx="126461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0">
                <a:solidFill>
                  <a:srgbClr val="253746"/>
                </a:solidFill>
                <a:latin typeface="Arial"/>
              </a:rPr>
              <a:t>Thank you to NHL Stats R&amp;D supervisors and colleagues for their advice and generosity.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3500080" y="26810208"/>
            <a:ext cx="8330183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Arial"/>
              </a:rPr>
              <a:t>Next: Carnegie Mellon poster; MIT Sloan submission; journal paper.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3500080" y="29260800"/>
            <a:ext cx="8330183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>
                <a:solidFill>
                  <a:srgbClr val="253746"/>
                </a:solidFill>
                <a:latin typeface="Arial"/>
              </a:rPr>
              <a:t>The research continues with new seasons and better observations of puck battles.</a:t>
            </a:r>
          </a:p>
        </p:txBody>
      </p:sp>
      <p:pic>
        <p:nvPicPr>
          <p:cNvPr id="159" name="Picture 158" descr="csax_rankings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88632" y="26901648"/>
            <a:ext cx="4919472" cy="4919472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7508688" y="27651456"/>
            <a:ext cx="4654296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17324D"/>
                </a:solidFill>
                <a:latin typeface="Arial"/>
              </a:rPr>
              <a:t>Full 2024–25
rankings and
technical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2019-07-22T13:42:40Z</dcterms:created>
  <dc:creator>Microsoft Office User</dc:creator>
</cp:coreProperties>
</file>