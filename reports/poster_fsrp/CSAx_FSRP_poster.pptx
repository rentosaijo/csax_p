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spPI7IIaiqraceWpHtEfm7knm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291840" y="5387342"/>
            <a:ext cx="37307519" cy="11460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5486400" y="17289781"/>
            <a:ext cx="32918401" cy="7947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/>
            </a:lvl1pPr>
            <a:lvl2pPr lvl="1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3pPr>
            <a:lvl4pPr lvl="3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4pPr>
            <a:lvl5pPr lvl="4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5pPr>
            <a:lvl6pPr lvl="5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6pPr>
            <a:lvl7pPr lvl="6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7pPr>
            <a:lvl8pPr lvl="7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8pPr>
            <a:lvl9pPr lvl="8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994662" y="22029430"/>
            <a:ext cx="3785616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864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017520" y="8763000"/>
            <a:ext cx="18653759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2219920" y="8763000"/>
            <a:ext cx="18653759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023242" y="8069582"/>
            <a:ext cx="18568032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023242" y="12024360"/>
            <a:ext cx="18568032" cy="17686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2219922" y="8069582"/>
            <a:ext cx="18659477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2219922" y="12024360"/>
            <a:ext cx="18659477" cy="17686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20396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5360"/>
            </a:lvl1pPr>
            <a:lvl2pPr indent="-108204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39"/>
            </a:lvl2pPr>
            <a:lvl3pPr indent="-96012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3pPr>
            <a:lvl4pPr indent="-8382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4pPr>
            <a:lvl5pPr indent="-8382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5pPr>
            <a:lvl6pPr indent="-8382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indent="-8382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indent="-8382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indent="-8382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1502390" y="278131"/>
            <a:ext cx="20886422" cy="3785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22193250" y="10968991"/>
            <a:ext cx="27896822" cy="946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2990852" y="1779270"/>
            <a:ext cx="27896822" cy="2784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b="0" i="0" sz="211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08204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b="0" i="0" sz="134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60120" lvl="1" marL="914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b="0" i="0" sz="11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77240" lvl="3" marL="1828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77240" lvl="4" marL="22860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77240" lvl="5" marL="2743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77240" lvl="6" marL="3200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77240" lvl="7" marL="3657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77240" lvl="8" marL="4114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jp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2240075" y="822175"/>
            <a:ext cx="39416100" cy="6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i="0" lang="en-US" sz="8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Playing Tougher for One’s Size: Positional Physicality in the NHL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Rento Saijo ‘28</a:t>
            </a:r>
            <a:br>
              <a:rPr b="1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Statistics and Data Science, Computer Science</a:t>
            </a:r>
            <a:endParaRPr b="1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Data, Information, and Society Pathway</a:t>
            </a:r>
            <a:endParaRPr b="1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Funded Sophomore Research Program</a:t>
            </a:r>
            <a:endParaRPr b="1" i="1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Jeff Moher, Connecticut College; Sian Lee, Michigan State University; Yeongjun Seo, U. of Tennessee</a:t>
            </a:r>
            <a:endParaRPr b="1" i="1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 flipH="1" rot="10800000">
            <a:off x="2239994" y="7364929"/>
            <a:ext cx="39416007" cy="45719"/>
          </a:xfrm>
          <a:prstGeom prst="rect">
            <a:avLst/>
          </a:prstGeom>
          <a:solidFill>
            <a:srgbClr val="0F2E5C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8"/>
              <a:buFont typeface="Arial"/>
              <a:buNone/>
            </a:pPr>
            <a:r>
              <a:t/>
            </a:r>
            <a:endParaRPr b="0" i="0" sz="725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00" y="2316957"/>
            <a:ext cx="50292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5094514" y="6854034"/>
            <a:ext cx="184731" cy="232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8"/>
              <a:buFont typeface="Arial"/>
              <a:buNone/>
            </a:pPr>
            <a:r>
              <a:t/>
            </a:r>
            <a:endParaRPr b="0" i="0" sz="72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8"/>
              <a:buFont typeface="Arial"/>
              <a:buNone/>
            </a:pPr>
            <a:r>
              <a:t/>
            </a:r>
            <a:endParaRPr b="0" i="0" sz="72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19" y="3397034"/>
            <a:ext cx="7308851" cy="149742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1280160" y="7973568"/>
            <a:ext cx="12070080" cy="17849088"/>
          </a:xfrm>
          <a:prstGeom prst="roundRect">
            <a:avLst>
              <a:gd fmla="val 1136" name="adj"/>
            </a:avLst>
          </a:prstGeom>
          <a:solidFill>
            <a:srgbClr val="FFFFFF"/>
          </a:solidFill>
          <a:ln cap="flat" cmpd="sng" w="12375">
            <a:solidFill>
              <a:srgbClr val="D2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280160" y="7973568"/>
            <a:ext cx="12070080" cy="15727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755648" y="8193024"/>
            <a:ext cx="1113739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does CSAx mean?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3825728" y="7973568"/>
            <a:ext cx="16239744" cy="17849088"/>
          </a:xfrm>
          <a:prstGeom prst="roundRect">
            <a:avLst>
              <a:gd fmla="val 845" name="adj"/>
            </a:avLst>
          </a:prstGeom>
          <a:solidFill>
            <a:srgbClr val="FFFFFF"/>
          </a:solidFill>
          <a:ln cap="flat" cmpd="sng" w="12375">
            <a:solidFill>
              <a:srgbClr val="D2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13825728" y="7973568"/>
            <a:ext cx="16239744" cy="15727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4301216" y="8193024"/>
            <a:ext cx="1530705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Does it match what scouts see?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30540960" y="7973568"/>
            <a:ext cx="12051792" cy="17849088"/>
          </a:xfrm>
          <a:prstGeom prst="roundRect">
            <a:avLst>
              <a:gd fmla="val 1138" name="adj"/>
            </a:avLst>
          </a:prstGeom>
          <a:solidFill>
            <a:srgbClr val="FFFFFF"/>
          </a:solidFill>
          <a:ln cap="flat" cmpd="sng" w="12375">
            <a:solidFill>
              <a:srgbClr val="D2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30540960" y="7973568"/>
            <a:ext cx="12051792" cy="15727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31016448" y="8193024"/>
            <a:ext cx="1111910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does it matter?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773936" y="9857232"/>
            <a:ext cx="11045952" cy="2066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CSAx measures physical presence relative to a player’s listed height and weight.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773936" y="12198096"/>
            <a:ext cx="5321808" cy="3163824"/>
          </a:xfrm>
          <a:prstGeom prst="roundRect">
            <a:avLst>
              <a:gd fmla="val 2890" name="adj"/>
            </a:avLst>
          </a:prstGeom>
          <a:solidFill>
            <a:srgbClr val="EAF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251192" y="12198096"/>
            <a:ext cx="5477256" cy="3163824"/>
          </a:xfrm>
          <a:prstGeom prst="roundRect">
            <a:avLst>
              <a:gd fmla="val 2890" name="adj"/>
            </a:avLst>
          </a:prstGeom>
          <a:solidFill>
            <a:srgbClr val="EAF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2057400" y="12508992"/>
            <a:ext cx="47548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DIRECT CONTACT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2057400" y="13222224"/>
            <a:ext cx="4663440" cy="1755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Hits given or taken, blocks, fights, contact penalties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7534656" y="12508992"/>
            <a:ext cx="479145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PUCK + SPACE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7534656" y="13222224"/>
            <a:ext cx="4773168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Net-front plays and forechecking; defensive recoveries and entry denials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1773936" y="15755112"/>
            <a:ext cx="10954512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1801375" y="16075152"/>
            <a:ext cx="3319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HIGHER CSAx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5047488" y="16075152"/>
            <a:ext cx="733348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More physical presence for one’s size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1801375" y="17346168"/>
            <a:ext cx="3319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LOWER CSAx</a:t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5047476" y="17346168"/>
            <a:ext cx="73335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Less physical presence for one’s size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1773936" y="18562320"/>
            <a:ext cx="10954512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1773936" y="18845784"/>
            <a:ext cx="1088136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r>
              <a:rPr b="1" lang="en-US" sz="3100">
                <a:solidFill>
                  <a:srgbClr val="17324D"/>
                </a:solidFill>
              </a:rPr>
              <a:t>-</a:t>
            </a:r>
            <a:r>
              <a:rPr b="1" i="0" lang="en-US" sz="31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25 </a:t>
            </a:r>
            <a:r>
              <a:rPr b="1" lang="en-US" sz="3100">
                <a:solidFill>
                  <a:srgbClr val="17324D"/>
                </a:solidFill>
              </a:rPr>
              <a:t>Top 3 CSAx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1773936" y="19705320"/>
            <a:ext cx="5330952" cy="5632704"/>
          </a:xfrm>
          <a:prstGeom prst="roundRect">
            <a:avLst>
              <a:gd fmla="val 1372" name="adj"/>
            </a:avLst>
          </a:prstGeom>
          <a:solidFill>
            <a:srgbClr val="FFFFFF"/>
          </a:solidFill>
          <a:ln cap="flat" cmpd="sng" w="12375">
            <a:solidFill>
              <a:srgbClr val="D2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1773936" y="19705320"/>
            <a:ext cx="5330952" cy="704088"/>
          </a:xfrm>
          <a:prstGeom prst="rect">
            <a:avLst/>
          </a:prstGeom>
          <a:solidFill>
            <a:srgbClr val="176A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1975104" y="19769328"/>
            <a:ext cx="4928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FORWARDS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1993392" y="20665440"/>
            <a:ext cx="46634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2532888" y="20665440"/>
            <a:ext cx="3355848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Player</a:t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5824728" y="20665440"/>
            <a:ext cx="106070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CSAx</a:t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1975104" y="21223224"/>
            <a:ext cx="4928616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"/>
          <p:cNvSpPr/>
          <p:nvPr/>
        </p:nvSpPr>
        <p:spPr>
          <a:xfrm>
            <a:off x="1993392" y="2148840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2523744" y="21488400"/>
            <a:ext cx="3337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Sam Carrick</a:t>
            </a: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5824728" y="21488400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4.69</a:t>
            </a:r>
            <a:endParaRPr/>
          </a:p>
        </p:txBody>
      </p:sp>
      <p:sp>
        <p:nvSpPr>
          <p:cNvPr id="127" name="Google Shape;127;p1"/>
          <p:cNvSpPr/>
          <p:nvPr/>
        </p:nvSpPr>
        <p:spPr>
          <a:xfrm>
            <a:off x="1975104" y="22338792"/>
            <a:ext cx="4928616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"/>
          <p:cNvSpPr/>
          <p:nvPr/>
        </p:nvSpPr>
        <p:spPr>
          <a:xfrm>
            <a:off x="1993392" y="22713696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9" name="Google Shape;129;p1"/>
          <p:cNvSpPr/>
          <p:nvPr/>
        </p:nvSpPr>
        <p:spPr>
          <a:xfrm>
            <a:off x="2523744" y="22713696"/>
            <a:ext cx="3337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Mathieu Olivier</a:t>
            </a:r>
            <a:endParaRPr/>
          </a:p>
        </p:txBody>
      </p:sp>
      <p:sp>
        <p:nvSpPr>
          <p:cNvPr id="130" name="Google Shape;130;p1"/>
          <p:cNvSpPr/>
          <p:nvPr/>
        </p:nvSpPr>
        <p:spPr>
          <a:xfrm>
            <a:off x="5824728" y="22713696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3.88</a:t>
            </a:r>
            <a:endParaRPr/>
          </a:p>
        </p:txBody>
      </p:sp>
      <p:sp>
        <p:nvSpPr>
          <p:cNvPr id="131" name="Google Shape;131;p1"/>
          <p:cNvSpPr/>
          <p:nvPr/>
        </p:nvSpPr>
        <p:spPr>
          <a:xfrm>
            <a:off x="1975104" y="23564088"/>
            <a:ext cx="4928616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993392" y="23938992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2523744" y="23938992"/>
            <a:ext cx="3337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Zachary L’Heureux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5824728" y="23938992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3.28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7242048" y="19705320"/>
            <a:ext cx="5486400" cy="5632704"/>
          </a:xfrm>
          <a:prstGeom prst="roundRect">
            <a:avLst>
              <a:gd fmla="val 1333" name="adj"/>
            </a:avLst>
          </a:prstGeom>
          <a:solidFill>
            <a:srgbClr val="FFFFFF"/>
          </a:solidFill>
          <a:ln cap="flat" cmpd="sng" w="12375">
            <a:solidFill>
              <a:srgbClr val="D2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"/>
          <p:cNvSpPr/>
          <p:nvPr/>
        </p:nvSpPr>
        <p:spPr>
          <a:xfrm>
            <a:off x="7242048" y="19705320"/>
            <a:ext cx="5486400" cy="704088"/>
          </a:xfrm>
          <a:prstGeom prst="rect">
            <a:avLst/>
          </a:prstGeom>
          <a:solidFill>
            <a:srgbClr val="965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"/>
          <p:cNvSpPr/>
          <p:nvPr/>
        </p:nvSpPr>
        <p:spPr>
          <a:xfrm>
            <a:off x="7443216" y="19769328"/>
            <a:ext cx="5084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DEFENSEMEN</a:t>
            </a:r>
            <a:endParaRPr/>
          </a:p>
        </p:txBody>
      </p:sp>
      <p:sp>
        <p:nvSpPr>
          <p:cNvPr id="138" name="Google Shape;138;p1"/>
          <p:cNvSpPr/>
          <p:nvPr/>
        </p:nvSpPr>
        <p:spPr>
          <a:xfrm>
            <a:off x="7461504" y="20665440"/>
            <a:ext cx="46634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endParaRPr/>
          </a:p>
        </p:txBody>
      </p:sp>
      <p:sp>
        <p:nvSpPr>
          <p:cNvPr id="139" name="Google Shape;139;p1"/>
          <p:cNvSpPr/>
          <p:nvPr/>
        </p:nvSpPr>
        <p:spPr>
          <a:xfrm>
            <a:off x="8001000" y="20665440"/>
            <a:ext cx="3511296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Player</a:t>
            </a:r>
            <a:endParaRPr/>
          </a:p>
        </p:txBody>
      </p:sp>
      <p:sp>
        <p:nvSpPr>
          <p:cNvPr id="140" name="Google Shape;140;p1"/>
          <p:cNvSpPr/>
          <p:nvPr/>
        </p:nvSpPr>
        <p:spPr>
          <a:xfrm>
            <a:off x="11448288" y="20665440"/>
            <a:ext cx="106070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CSAx</a:t>
            </a:r>
            <a:endParaRPr/>
          </a:p>
        </p:txBody>
      </p:sp>
      <p:sp>
        <p:nvSpPr>
          <p:cNvPr id="141" name="Google Shape;141;p1"/>
          <p:cNvSpPr/>
          <p:nvPr/>
        </p:nvSpPr>
        <p:spPr>
          <a:xfrm>
            <a:off x="7443216" y="21223224"/>
            <a:ext cx="5084064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"/>
          <p:cNvSpPr/>
          <p:nvPr/>
        </p:nvSpPr>
        <p:spPr>
          <a:xfrm>
            <a:off x="7461504" y="2148840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7991856" y="21488400"/>
            <a:ext cx="34930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Connor Clifton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1448288" y="21488400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2.95</a:t>
            </a:r>
            <a:endParaRPr/>
          </a:p>
        </p:txBody>
      </p:sp>
      <p:sp>
        <p:nvSpPr>
          <p:cNvPr id="145" name="Google Shape;145;p1"/>
          <p:cNvSpPr/>
          <p:nvPr/>
        </p:nvSpPr>
        <p:spPr>
          <a:xfrm>
            <a:off x="7443216" y="22338792"/>
            <a:ext cx="5084064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7461504" y="22713696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7991856" y="22713696"/>
            <a:ext cx="34930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Radko Gudas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1448288" y="22713696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2.93</a:t>
            </a:r>
            <a:endParaRPr/>
          </a:p>
        </p:txBody>
      </p:sp>
      <p:sp>
        <p:nvSpPr>
          <p:cNvPr id="149" name="Google Shape;149;p1"/>
          <p:cNvSpPr/>
          <p:nvPr/>
        </p:nvSpPr>
        <p:spPr>
          <a:xfrm>
            <a:off x="7443216" y="23564088"/>
            <a:ext cx="5084064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"/>
          <p:cNvSpPr/>
          <p:nvPr/>
        </p:nvSpPr>
        <p:spPr>
          <a:xfrm>
            <a:off x="7461504" y="23938992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7991856" y="23938992"/>
            <a:ext cx="34930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Nick Seeler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1448288" y="23938992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2.82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14328648" y="9912096"/>
            <a:ext cx="1515160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US" sz="3100">
                <a:solidFill>
                  <a:srgbClr val="17324D"/>
                </a:solidFill>
              </a:rPr>
              <a:t>Scouting Report Example: Will Cuylle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14282928" y="10725912"/>
            <a:ext cx="15288768" cy="3172968"/>
          </a:xfrm>
          <a:prstGeom prst="roundRect">
            <a:avLst>
              <a:gd fmla="val 2882" name="adj"/>
            </a:avLst>
          </a:prstGeom>
          <a:solidFill>
            <a:srgbClr val="EAF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"/>
          <p:cNvSpPr/>
          <p:nvPr/>
        </p:nvSpPr>
        <p:spPr>
          <a:xfrm>
            <a:off x="14639544" y="11009376"/>
            <a:ext cx="14557248" cy="2093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“Powerful skater with good speed. … Heavy on the body and on pursuit of pucks. Very strong puck protection and wall play. Excellent net-front presence.”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4639544" y="13231368"/>
            <a:ext cx="145481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36673"/>
                </a:solidFill>
              </a:rPr>
              <a:t>2</a:t>
            </a:r>
            <a:r>
              <a:rPr b="0" i="0" lang="en-US" sz="24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020 </a:t>
            </a:r>
            <a:r>
              <a:rPr lang="en-US" sz="2400">
                <a:solidFill>
                  <a:srgbClr val="536673"/>
                </a:solidFill>
              </a:rPr>
              <a:t>D</a:t>
            </a:r>
            <a:r>
              <a:rPr b="0" i="0" lang="en-US" sz="24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raft </a:t>
            </a:r>
            <a:r>
              <a:rPr lang="en-US" sz="2400">
                <a:solidFill>
                  <a:srgbClr val="536673"/>
                </a:solidFill>
              </a:rPr>
              <a:t>G</a:t>
            </a:r>
            <a:r>
              <a:rPr b="0" i="0" lang="en-US" sz="24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uide, </a:t>
            </a:r>
            <a:r>
              <a:rPr lang="en-US" sz="2400">
                <a:solidFill>
                  <a:srgbClr val="536673"/>
                </a:solidFill>
              </a:rPr>
              <a:t>NHL Central Scouting</a:t>
            </a:r>
            <a:endParaRPr sz="2400"/>
          </a:p>
        </p:txBody>
      </p:sp>
      <p:pic>
        <p:nvPicPr>
          <p:cNvPr id="157" name="Google Shape;157;p1"/>
          <p:cNvPicPr preferRelativeResize="0"/>
          <p:nvPr/>
        </p:nvPicPr>
        <p:blipFill rotWithShape="1">
          <a:blip r:embed="rId5">
            <a:alphaModFix/>
          </a:blip>
          <a:srcRect b="0" l="33" r="33" t="0"/>
          <a:stretch/>
        </p:blipFill>
        <p:spPr>
          <a:xfrm>
            <a:off x="14145768" y="14548104"/>
            <a:ext cx="15480792" cy="89976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"/>
          <p:cNvSpPr/>
          <p:nvPr/>
        </p:nvSpPr>
        <p:spPr>
          <a:xfrm>
            <a:off x="14346936" y="23810976"/>
            <a:ext cx="1501444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Each dot is a player; diamonds mark group means. Brackets show 95% intervals.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Active-engagement descriptions align with higher CSAx in both positions.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31053024" y="9866376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7324D"/>
                </a:solidFill>
              </a:rPr>
              <a:t>Special-Teams Ice Time</a:t>
            </a:r>
            <a:endParaRPr/>
          </a:p>
        </p:txBody>
      </p:sp>
      <p:sp>
        <p:nvSpPr>
          <p:cNvPr id="160" name="Google Shape;160;p1"/>
          <p:cNvSpPr/>
          <p:nvPr/>
        </p:nvSpPr>
        <p:spPr>
          <a:xfrm>
            <a:off x="31053024" y="10533888"/>
            <a:ext cx="10954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Share of total ice time; CSAx +1 </a:t>
            </a:r>
            <a:r>
              <a:rPr lang="en-US" sz="2300">
                <a:solidFill>
                  <a:srgbClr val="536673"/>
                </a:solidFill>
              </a:rPr>
              <a:t>vs.</a:t>
            </a: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 −1</a:t>
            </a:r>
            <a:endParaRPr/>
          </a:p>
        </p:txBody>
      </p:sp>
      <p:sp>
        <p:nvSpPr>
          <p:cNvPr id="161" name="Google Shape;161;p1"/>
          <p:cNvSpPr/>
          <p:nvPr/>
        </p:nvSpPr>
        <p:spPr>
          <a:xfrm>
            <a:off x="31053024" y="11164824"/>
            <a:ext cx="10954512" cy="2478024"/>
          </a:xfrm>
          <a:prstGeom prst="roundRect">
            <a:avLst>
              <a:gd fmla="val 2952" name="adj"/>
            </a:avLst>
          </a:prstGeom>
          <a:solidFill>
            <a:srgbClr val="EAF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"/>
          <p:cNvSpPr/>
          <p:nvPr/>
        </p:nvSpPr>
        <p:spPr>
          <a:xfrm>
            <a:off x="34335720" y="11411712"/>
            <a:ext cx="358444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POWER PLAY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37847016" y="11411712"/>
            <a:ext cx="3685032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PENALTY KILL</a:t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31327344" y="11942064"/>
            <a:ext cx="10405872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"/>
          <p:cNvSpPr/>
          <p:nvPr/>
        </p:nvSpPr>
        <p:spPr>
          <a:xfrm>
            <a:off x="31363920" y="12088368"/>
            <a:ext cx="281635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Forwards</a:t>
            </a:r>
            <a:endParaRPr/>
          </a:p>
        </p:txBody>
      </p:sp>
      <p:sp>
        <p:nvSpPr>
          <p:cNvPr id="166" name="Google Shape;166;p1"/>
          <p:cNvSpPr/>
          <p:nvPr/>
        </p:nvSpPr>
        <p:spPr>
          <a:xfrm>
            <a:off x="34354008" y="12088368"/>
            <a:ext cx="353872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−1.2 points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37856160" y="12088368"/>
            <a:ext cx="36850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+1.4 points</a:t>
            </a:r>
            <a:endParaRPr/>
          </a:p>
        </p:txBody>
      </p:sp>
      <p:sp>
        <p:nvSpPr>
          <p:cNvPr id="168" name="Google Shape;168;p1"/>
          <p:cNvSpPr/>
          <p:nvPr/>
        </p:nvSpPr>
        <p:spPr>
          <a:xfrm>
            <a:off x="31363920" y="12801600"/>
            <a:ext cx="298094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96511E"/>
                </a:solidFill>
                <a:latin typeface="Arial"/>
                <a:ea typeface="Arial"/>
                <a:cs typeface="Arial"/>
                <a:sym typeface="Arial"/>
              </a:rPr>
              <a:t>Defensemen</a:t>
            </a:r>
            <a:endParaRPr/>
          </a:p>
        </p:txBody>
      </p:sp>
      <p:sp>
        <p:nvSpPr>
          <p:cNvPr id="169" name="Google Shape;169;p1"/>
          <p:cNvSpPr/>
          <p:nvPr/>
        </p:nvSpPr>
        <p:spPr>
          <a:xfrm>
            <a:off x="34354008" y="12801600"/>
            <a:ext cx="353872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−0.9 points</a:t>
            </a:r>
            <a:endParaRPr/>
          </a:p>
        </p:txBody>
      </p:sp>
      <p:sp>
        <p:nvSpPr>
          <p:cNvPr id="170" name="Google Shape;170;p1"/>
          <p:cNvSpPr/>
          <p:nvPr/>
        </p:nvSpPr>
        <p:spPr>
          <a:xfrm>
            <a:off x="37856160" y="12801600"/>
            <a:ext cx="36850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+1.3 points</a:t>
            </a:r>
            <a:endParaRPr/>
          </a:p>
        </p:txBody>
      </p:sp>
      <p:sp>
        <p:nvSpPr>
          <p:cNvPr id="171" name="Google Shape;171;p1"/>
          <p:cNvSpPr/>
          <p:nvPr/>
        </p:nvSpPr>
        <p:spPr>
          <a:xfrm>
            <a:off x="31053024" y="14072616"/>
            <a:ext cx="10954512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"/>
          <p:cNvSpPr/>
          <p:nvPr/>
        </p:nvSpPr>
        <p:spPr>
          <a:xfrm>
            <a:off x="31053024" y="14337792"/>
            <a:ext cx="10936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7324D"/>
                </a:solidFill>
              </a:rPr>
              <a:t>Playoff Hitting among Forwards</a:t>
            </a:r>
            <a:endParaRPr/>
          </a:p>
        </p:txBody>
      </p:sp>
      <p:sp>
        <p:nvSpPr>
          <p:cNvPr id="173" name="Google Shape;173;p1"/>
          <p:cNvSpPr/>
          <p:nvPr/>
        </p:nvSpPr>
        <p:spPr>
          <a:xfrm>
            <a:off x="31053024" y="15078456"/>
            <a:ext cx="1082649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First </a:t>
            </a:r>
            <a:r>
              <a:rPr lang="en-US" sz="2300">
                <a:solidFill>
                  <a:srgbClr val="536673"/>
                </a:solidFill>
              </a:rPr>
              <a:t>4</a:t>
            </a: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 playoff games vs. regular-season baseline</a:t>
            </a:r>
            <a:endParaRPr/>
          </a:p>
        </p:txBody>
      </p:sp>
      <p:sp>
        <p:nvSpPr>
          <p:cNvPr id="174" name="Google Shape;174;p1"/>
          <p:cNvSpPr/>
          <p:nvPr/>
        </p:nvSpPr>
        <p:spPr>
          <a:xfrm>
            <a:off x="31117032" y="15819120"/>
            <a:ext cx="293522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Lower CSAx</a:t>
            </a:r>
            <a:endParaRPr/>
          </a:p>
        </p:txBody>
      </p:sp>
      <p:sp>
        <p:nvSpPr>
          <p:cNvPr id="175" name="Google Shape;175;p1"/>
          <p:cNvSpPr/>
          <p:nvPr/>
        </p:nvSpPr>
        <p:spPr>
          <a:xfrm>
            <a:off x="34088832" y="15883128"/>
            <a:ext cx="5724144" cy="438912"/>
          </a:xfrm>
          <a:prstGeom prst="roundRect">
            <a:avLst>
              <a:gd fmla="val 20833" name="adj"/>
            </a:avLst>
          </a:prstGeom>
          <a:solidFill>
            <a:srgbClr val="8CC6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"/>
          <p:cNvSpPr/>
          <p:nvPr/>
        </p:nvSpPr>
        <p:spPr>
          <a:xfrm>
            <a:off x="40005000" y="15745968"/>
            <a:ext cx="17556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+136%</a:t>
            </a:r>
            <a:endParaRPr/>
          </a:p>
        </p:txBody>
      </p:sp>
      <p:sp>
        <p:nvSpPr>
          <p:cNvPr id="177" name="Google Shape;177;p1"/>
          <p:cNvSpPr/>
          <p:nvPr/>
        </p:nvSpPr>
        <p:spPr>
          <a:xfrm>
            <a:off x="31117032" y="16934688"/>
            <a:ext cx="303580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Higher CSAx</a:t>
            </a:r>
            <a:endParaRPr/>
          </a:p>
        </p:txBody>
      </p:sp>
      <p:sp>
        <p:nvSpPr>
          <p:cNvPr id="178" name="Google Shape;178;p1"/>
          <p:cNvSpPr/>
          <p:nvPr/>
        </p:nvSpPr>
        <p:spPr>
          <a:xfrm>
            <a:off x="34088832" y="16998696"/>
            <a:ext cx="3538728" cy="438912"/>
          </a:xfrm>
          <a:prstGeom prst="roundRect">
            <a:avLst>
              <a:gd fmla="val 20833" name="adj"/>
            </a:avLst>
          </a:prstGeom>
          <a:solidFill>
            <a:srgbClr val="176A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"/>
          <p:cNvSpPr/>
          <p:nvPr/>
        </p:nvSpPr>
        <p:spPr>
          <a:xfrm>
            <a:off x="40005000" y="16870680"/>
            <a:ext cx="17556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+84%</a:t>
            </a:r>
            <a:endParaRPr/>
          </a:p>
        </p:txBody>
      </p:sp>
      <p:sp>
        <p:nvSpPr>
          <p:cNvPr id="180" name="Google Shape;180;p1"/>
          <p:cNvSpPr/>
          <p:nvPr/>
        </p:nvSpPr>
        <p:spPr>
          <a:xfrm>
            <a:off x="31089600" y="17949672"/>
            <a:ext cx="107442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Hits rise in both forward profiles, with a smaller proportional rise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for higher-CSAx players; the defenseman contrast is uncertain.</a:t>
            </a:r>
            <a:endParaRPr/>
          </a:p>
        </p:txBody>
      </p:sp>
      <p:sp>
        <p:nvSpPr>
          <p:cNvPr id="181" name="Google Shape;181;p1"/>
          <p:cNvSpPr/>
          <p:nvPr/>
        </p:nvSpPr>
        <p:spPr>
          <a:xfrm>
            <a:off x="31053024" y="19421856"/>
            <a:ext cx="10954512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"/>
          <p:cNvSpPr/>
          <p:nvPr/>
        </p:nvSpPr>
        <p:spPr>
          <a:xfrm>
            <a:off x="31053024" y="19668744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7324D"/>
                </a:solidFill>
              </a:rPr>
              <a:t>Next-Season Roster Continuation</a:t>
            </a:r>
            <a:endParaRPr/>
          </a:p>
        </p:txBody>
      </p:sp>
      <p:sp>
        <p:nvSpPr>
          <p:cNvPr id="183" name="Google Shape;183;p1"/>
          <p:cNvSpPr/>
          <p:nvPr/>
        </p:nvSpPr>
        <p:spPr>
          <a:xfrm>
            <a:off x="31053024" y="20409408"/>
            <a:ext cx="107899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Chance of reaching 300 NHL minutes; CSAx +1 </a:t>
            </a:r>
            <a:r>
              <a:rPr lang="en-US" sz="2300">
                <a:solidFill>
                  <a:srgbClr val="536673"/>
                </a:solidFill>
              </a:rPr>
              <a:t>vs.</a:t>
            </a: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 −1</a:t>
            </a:r>
            <a:endParaRPr/>
          </a:p>
        </p:txBody>
      </p:sp>
      <p:sp>
        <p:nvSpPr>
          <p:cNvPr id="184" name="Google Shape;184;p1"/>
          <p:cNvSpPr/>
          <p:nvPr/>
        </p:nvSpPr>
        <p:spPr>
          <a:xfrm>
            <a:off x="31117032" y="21140928"/>
            <a:ext cx="10744200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"/>
          <p:cNvSpPr/>
          <p:nvPr/>
        </p:nvSpPr>
        <p:spPr>
          <a:xfrm>
            <a:off x="31117032" y="21378672"/>
            <a:ext cx="4818888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Forwards</a:t>
            </a:r>
            <a:endParaRPr/>
          </a:p>
        </p:txBody>
      </p:sp>
      <p:sp>
        <p:nvSpPr>
          <p:cNvPr id="186" name="Google Shape;186;p1"/>
          <p:cNvSpPr/>
          <p:nvPr/>
        </p:nvSpPr>
        <p:spPr>
          <a:xfrm>
            <a:off x="35753040" y="21378672"/>
            <a:ext cx="599846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6A85"/>
                </a:solidFill>
                <a:latin typeface="Arial"/>
                <a:ea typeface="Arial"/>
                <a:cs typeface="Arial"/>
                <a:sym typeface="Arial"/>
              </a:rPr>
              <a:t>+2.9 percentage points</a:t>
            </a:r>
            <a:endParaRPr/>
          </a:p>
        </p:txBody>
      </p:sp>
      <p:sp>
        <p:nvSpPr>
          <p:cNvPr id="187" name="Google Shape;187;p1"/>
          <p:cNvSpPr/>
          <p:nvPr/>
        </p:nvSpPr>
        <p:spPr>
          <a:xfrm>
            <a:off x="31117032" y="22146768"/>
            <a:ext cx="10744200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"/>
          <p:cNvSpPr/>
          <p:nvPr/>
        </p:nvSpPr>
        <p:spPr>
          <a:xfrm>
            <a:off x="31117032" y="22384512"/>
            <a:ext cx="4818888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6511E"/>
                </a:solidFill>
                <a:latin typeface="Arial"/>
                <a:ea typeface="Arial"/>
                <a:cs typeface="Arial"/>
                <a:sym typeface="Arial"/>
              </a:rPr>
              <a:t>Defensemen</a:t>
            </a:r>
            <a:endParaRPr/>
          </a:p>
        </p:txBody>
      </p:sp>
      <p:sp>
        <p:nvSpPr>
          <p:cNvPr id="189" name="Google Shape;189;p1"/>
          <p:cNvSpPr/>
          <p:nvPr/>
        </p:nvSpPr>
        <p:spPr>
          <a:xfrm>
            <a:off x="35753040" y="22384512"/>
            <a:ext cx="599846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6511E"/>
                </a:solidFill>
                <a:latin typeface="Arial"/>
                <a:ea typeface="Arial"/>
                <a:cs typeface="Arial"/>
                <a:sym typeface="Arial"/>
              </a:rPr>
              <a:t>+4.2 percentage points</a:t>
            </a:r>
            <a:endParaRPr/>
          </a:p>
        </p:txBody>
      </p:sp>
      <p:sp>
        <p:nvSpPr>
          <p:cNvPr id="190" name="Google Shape;190;p1"/>
          <p:cNvSpPr/>
          <p:nvPr/>
        </p:nvSpPr>
        <p:spPr>
          <a:xfrm>
            <a:off x="31117032" y="23152608"/>
            <a:ext cx="10744200" cy="16459"/>
          </a:xfrm>
          <a:prstGeom prst="rect">
            <a:avLst/>
          </a:prstGeom>
          <a:solidFill>
            <a:srgbClr val="D2D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"/>
          <p:cNvSpPr/>
          <p:nvPr/>
        </p:nvSpPr>
        <p:spPr>
          <a:xfrm>
            <a:off x="31080456" y="23554944"/>
            <a:ext cx="1078992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Among returners, higher CSAx shows no clear increase in minutes per game</a:t>
            </a:r>
            <a:r>
              <a:rPr lang="en-US" sz="2600">
                <a:solidFill>
                  <a:srgbClr val="263B4B"/>
                </a:solidFill>
              </a:rPr>
              <a:t>, so it accompanies staying power but not necessarily larger role.</a:t>
            </a:r>
            <a:endParaRPr/>
          </a:p>
        </p:txBody>
      </p:sp>
      <p:sp>
        <p:nvSpPr>
          <p:cNvPr id="192" name="Google Shape;192;p1"/>
          <p:cNvSpPr/>
          <p:nvPr/>
        </p:nvSpPr>
        <p:spPr>
          <a:xfrm>
            <a:off x="1280160" y="26243280"/>
            <a:ext cx="41312592" cy="6035040"/>
          </a:xfrm>
          <a:prstGeom prst="roundRect">
            <a:avLst>
              <a:gd fmla="val 2273" name="adj"/>
            </a:avLst>
          </a:prstGeom>
          <a:solidFill>
            <a:srgbClr val="FFFFFF"/>
          </a:solidFill>
          <a:ln cap="flat" cmpd="sng" w="12375">
            <a:solidFill>
              <a:srgbClr val="D2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1"/>
          <p:cNvPicPr preferRelativeResize="0"/>
          <p:nvPr/>
        </p:nvPicPr>
        <p:blipFill rotWithShape="1">
          <a:blip r:embed="rId6">
            <a:alphaModFix/>
          </a:blip>
          <a:srcRect b="2000" l="0" r="0" t="14000"/>
          <a:stretch/>
        </p:blipFill>
        <p:spPr>
          <a:xfrm>
            <a:off x="1563624" y="26645616"/>
            <a:ext cx="8183880" cy="4599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"/>
          <p:cNvSpPr/>
          <p:nvPr/>
        </p:nvSpPr>
        <p:spPr>
          <a:xfrm>
            <a:off x="1563624" y="31409640"/>
            <a:ext cx="8183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536673"/>
                </a:solidFill>
              </a:rPr>
              <a:t>Summer </a:t>
            </a: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sz="2300">
                <a:solidFill>
                  <a:srgbClr val="536673"/>
                </a:solidFill>
              </a:rPr>
              <a:t>6</a:t>
            </a: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 NHL </a:t>
            </a:r>
            <a:r>
              <a:rPr lang="en-US" sz="2300">
                <a:solidFill>
                  <a:srgbClr val="536673"/>
                </a:solidFill>
              </a:rPr>
              <a:t>I</a:t>
            </a: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ntern </a:t>
            </a:r>
            <a:r>
              <a:rPr lang="en-US" sz="2300">
                <a:solidFill>
                  <a:srgbClr val="536673"/>
                </a:solidFill>
              </a:rPr>
              <a:t>C</a:t>
            </a:r>
            <a:r>
              <a:rPr b="0" i="0" lang="en-US" sz="2300" u="none" cap="none" strike="noStrike">
                <a:solidFill>
                  <a:srgbClr val="536673"/>
                </a:solidFill>
                <a:latin typeface="Arial"/>
                <a:ea typeface="Arial"/>
                <a:cs typeface="Arial"/>
                <a:sym typeface="Arial"/>
              </a:rPr>
              <a:t>ohort</a:t>
            </a:r>
            <a:endParaRPr/>
          </a:p>
        </p:txBody>
      </p:sp>
      <p:sp>
        <p:nvSpPr>
          <p:cNvPr id="195" name="Google Shape;195;p1"/>
          <p:cNvSpPr/>
          <p:nvPr/>
        </p:nvSpPr>
        <p:spPr>
          <a:xfrm>
            <a:off x="10131552" y="26618184"/>
            <a:ext cx="105704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7324D"/>
                </a:solidFill>
              </a:rPr>
              <a:t>Behind This Study</a:t>
            </a:r>
            <a:endParaRPr/>
          </a:p>
        </p:txBody>
      </p:sp>
      <p:sp>
        <p:nvSpPr>
          <p:cNvPr id="196" name="Google Shape;196;p1"/>
          <p:cNvSpPr/>
          <p:nvPr/>
        </p:nvSpPr>
        <p:spPr>
          <a:xfrm>
            <a:off x="10131552" y="27395424"/>
            <a:ext cx="10570464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During my NHL Stats R&amp;D internship, I discussed this research with supervisors and colleagues whose hockey and analytics perspectives helped sharpen our questions. I thank them for their guidance as this work took shape. We plan to present at Carnegie Mellon, submit to MIT Sloan, and develop a journal manuscript.</a:t>
            </a:r>
            <a:endParaRPr/>
          </a:p>
        </p:txBody>
      </p:sp>
      <p:sp>
        <p:nvSpPr>
          <p:cNvPr id="198" name="Google Shape;198;p1"/>
          <p:cNvSpPr/>
          <p:nvPr/>
        </p:nvSpPr>
        <p:spPr>
          <a:xfrm>
            <a:off x="21296376" y="26618184"/>
            <a:ext cx="105704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7324D"/>
                </a:solidFill>
              </a:rPr>
              <a:t>Data Sources</a:t>
            </a:r>
            <a:endParaRPr/>
          </a:p>
        </p:txBody>
      </p:sp>
      <p:sp>
        <p:nvSpPr>
          <p:cNvPr id="199" name="Google Shape;199;p1"/>
          <p:cNvSpPr/>
          <p:nvPr/>
        </p:nvSpPr>
        <p:spPr>
          <a:xfrm>
            <a:off x="21296376" y="27395424"/>
            <a:ext cx="10570464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We combine NHL play-by-play and official ice-time records with Corey Sznajder’s All Three Zones tracking data. The NHL records describe contact and playing time, while the tracking data adds forechecking and defensive-zone actions. NHL Central Scouting profiles provide independent descriptions of physical engagement for comparison with CSAx.</a:t>
            </a:r>
            <a:endParaRPr/>
          </a:p>
        </p:txBody>
      </p:sp>
      <p:pic>
        <p:nvPicPr>
          <p:cNvPr id="200" name="Google Shape;20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88632" y="26901648"/>
            <a:ext cx="4919472" cy="4919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"/>
          <p:cNvSpPr/>
          <p:nvPr/>
        </p:nvSpPr>
        <p:spPr>
          <a:xfrm>
            <a:off x="37517832" y="27697176"/>
            <a:ext cx="4690872" cy="319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Full 2024</a:t>
            </a:r>
            <a:r>
              <a:rPr b="1" lang="en-US" sz="3000">
                <a:solidFill>
                  <a:srgbClr val="17324D"/>
                </a:solidFill>
              </a:rPr>
              <a:t>-</a:t>
            </a:r>
            <a:r>
              <a:rPr b="1" i="0" lang="en-US" sz="30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7324D"/>
                </a:solidFill>
              </a:rPr>
              <a:t>Rankings</a:t>
            </a:r>
            <a:r>
              <a:rPr b="1" i="0" lang="en-US" sz="30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7324D"/>
                </a:solidFill>
              </a:rPr>
              <a:t>Technical Details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